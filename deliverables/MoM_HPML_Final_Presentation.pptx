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1675"/>
  <p:notesSz cx="6858000" cy="9144000"/>
  <p:embeddedFontLst>
    <p:embeddedFont>
      <p:font typeface="Helvetica Neue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regular.fntdata"/><Relationship Id="rId11" Type="http://schemas.openxmlformats.org/officeDocument/2006/relationships/slide" Target="slides/slide6.xml"/><Relationship Id="rId22" Type="http://schemas.openxmlformats.org/officeDocument/2006/relationships/font" Target="fonts/HelveticaNeue-italic.fntdata"/><Relationship Id="rId10" Type="http://schemas.openxmlformats.org/officeDocument/2006/relationships/slide" Target="slides/slide5.xml"/><Relationship Id="rId21" Type="http://schemas.openxmlformats.org/officeDocument/2006/relationships/font" Target="fonts/HelveticaNeue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HelveticaNeue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df779e2c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df779e2c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7772400" y="365760"/>
            <a:ext cx="365760" cy="365760"/>
          </a:xfrm>
          <a:prstGeom prst="rect">
            <a:avLst/>
          </a:prstGeom>
          <a:solidFill>
            <a:srgbClr val="142E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8275320" y="365760"/>
            <a:ext cx="365760" cy="365760"/>
          </a:xfrm>
          <a:prstGeom prst="rect">
            <a:avLst/>
          </a:prstGeom>
          <a:solidFill>
            <a:srgbClr val="142E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8778240" y="365760"/>
            <a:ext cx="365760" cy="365760"/>
          </a:xfrm>
          <a:prstGeom prst="rect">
            <a:avLst/>
          </a:prstGeom>
          <a:solidFill>
            <a:srgbClr val="142E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9281160" y="365760"/>
            <a:ext cx="365760" cy="365760"/>
          </a:xfrm>
          <a:prstGeom prst="rect">
            <a:avLst/>
          </a:prstGeom>
          <a:solidFill>
            <a:srgbClr val="142E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9784080" y="365760"/>
            <a:ext cx="365760" cy="365760"/>
          </a:xfrm>
          <a:prstGeom prst="rect">
            <a:avLst/>
          </a:prstGeom>
          <a:solidFill>
            <a:srgbClr val="142E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10287000" y="365760"/>
            <a:ext cx="365760" cy="365760"/>
          </a:xfrm>
          <a:prstGeom prst="rect">
            <a:avLst/>
          </a:prstGeom>
          <a:solidFill>
            <a:srgbClr val="142E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10789920" y="365760"/>
            <a:ext cx="365760" cy="365760"/>
          </a:xfrm>
          <a:prstGeom prst="rect">
            <a:avLst/>
          </a:prstGeom>
          <a:solidFill>
            <a:srgbClr val="142E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11292840" y="365760"/>
            <a:ext cx="365760" cy="365760"/>
          </a:xfrm>
          <a:prstGeom prst="rect">
            <a:avLst/>
          </a:prstGeom>
          <a:solidFill>
            <a:srgbClr val="142E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7772400" y="868680"/>
            <a:ext cx="365760" cy="365760"/>
          </a:xfrm>
          <a:prstGeom prst="rect">
            <a:avLst/>
          </a:prstGeom>
          <a:solidFill>
            <a:srgbClr val="142E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8275320" y="868680"/>
            <a:ext cx="365760" cy="365760"/>
          </a:xfrm>
          <a:prstGeom prst="rect">
            <a:avLst/>
          </a:prstGeom>
          <a:solidFill>
            <a:srgbClr val="142E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8778240" y="868680"/>
            <a:ext cx="365760" cy="365760"/>
          </a:xfrm>
          <a:prstGeom prst="rect">
            <a:avLst/>
          </a:prstGeom>
          <a:solidFill>
            <a:srgbClr val="142E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9281160" y="868680"/>
            <a:ext cx="365760" cy="365760"/>
          </a:xfrm>
          <a:prstGeom prst="rect">
            <a:avLst/>
          </a:prstGeom>
          <a:solidFill>
            <a:srgbClr val="142E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9784080" y="868680"/>
            <a:ext cx="365760" cy="365760"/>
          </a:xfrm>
          <a:prstGeom prst="rect">
            <a:avLst/>
          </a:prstGeom>
          <a:solidFill>
            <a:srgbClr val="142E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10287000" y="868680"/>
            <a:ext cx="365760" cy="365760"/>
          </a:xfrm>
          <a:prstGeom prst="rect">
            <a:avLst/>
          </a:prstGeom>
          <a:solidFill>
            <a:srgbClr val="142E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10789920" y="868680"/>
            <a:ext cx="365760" cy="365760"/>
          </a:xfrm>
          <a:prstGeom prst="rect">
            <a:avLst/>
          </a:prstGeom>
          <a:solidFill>
            <a:srgbClr val="142E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11292840" y="868680"/>
            <a:ext cx="365760" cy="365760"/>
          </a:xfrm>
          <a:prstGeom prst="rect">
            <a:avLst/>
          </a:prstGeom>
          <a:solidFill>
            <a:srgbClr val="142E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7772400" y="1371600"/>
            <a:ext cx="365760" cy="365760"/>
          </a:xfrm>
          <a:prstGeom prst="rect">
            <a:avLst/>
          </a:prstGeom>
          <a:solidFill>
            <a:srgbClr val="142E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8275320" y="1371600"/>
            <a:ext cx="365760" cy="365760"/>
          </a:xfrm>
          <a:prstGeom prst="rect">
            <a:avLst/>
          </a:prstGeom>
          <a:solidFill>
            <a:srgbClr val="142E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/>
          <p:nvPr/>
        </p:nvSpPr>
        <p:spPr>
          <a:xfrm>
            <a:off x="8778240" y="1371600"/>
            <a:ext cx="365760" cy="365760"/>
          </a:xfrm>
          <a:prstGeom prst="rect">
            <a:avLst/>
          </a:prstGeom>
          <a:solidFill>
            <a:srgbClr val="142E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/>
          <p:nvPr/>
        </p:nvSpPr>
        <p:spPr>
          <a:xfrm>
            <a:off x="9281160" y="1371600"/>
            <a:ext cx="365760" cy="365760"/>
          </a:xfrm>
          <a:prstGeom prst="rect">
            <a:avLst/>
          </a:prstGeom>
          <a:solidFill>
            <a:srgbClr val="142E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/>
          <p:nvPr/>
        </p:nvSpPr>
        <p:spPr>
          <a:xfrm>
            <a:off x="9784080" y="1371600"/>
            <a:ext cx="365760" cy="365760"/>
          </a:xfrm>
          <a:prstGeom prst="rect">
            <a:avLst/>
          </a:prstGeom>
          <a:solidFill>
            <a:srgbClr val="142E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/>
          <p:nvPr/>
        </p:nvSpPr>
        <p:spPr>
          <a:xfrm>
            <a:off x="10287000" y="1371600"/>
            <a:ext cx="365760" cy="365760"/>
          </a:xfrm>
          <a:prstGeom prst="rect">
            <a:avLst/>
          </a:prstGeom>
          <a:solidFill>
            <a:srgbClr val="142E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/>
          <p:nvPr/>
        </p:nvSpPr>
        <p:spPr>
          <a:xfrm>
            <a:off x="10789920" y="1371600"/>
            <a:ext cx="365760" cy="365760"/>
          </a:xfrm>
          <a:prstGeom prst="rect">
            <a:avLst/>
          </a:prstGeom>
          <a:solidFill>
            <a:srgbClr val="142E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/>
          <p:nvPr/>
        </p:nvSpPr>
        <p:spPr>
          <a:xfrm>
            <a:off x="11292840" y="1371600"/>
            <a:ext cx="365760" cy="365760"/>
          </a:xfrm>
          <a:prstGeom prst="rect">
            <a:avLst/>
          </a:prstGeom>
          <a:solidFill>
            <a:srgbClr val="142E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3"/>
          <p:cNvSpPr/>
          <p:nvPr/>
        </p:nvSpPr>
        <p:spPr>
          <a:xfrm>
            <a:off x="7772400" y="1874520"/>
            <a:ext cx="365760" cy="365760"/>
          </a:xfrm>
          <a:prstGeom prst="rect">
            <a:avLst/>
          </a:prstGeom>
          <a:solidFill>
            <a:srgbClr val="142E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/>
          <p:nvPr/>
        </p:nvSpPr>
        <p:spPr>
          <a:xfrm>
            <a:off x="8275320" y="1874520"/>
            <a:ext cx="365760" cy="365760"/>
          </a:xfrm>
          <a:prstGeom prst="rect">
            <a:avLst/>
          </a:prstGeom>
          <a:solidFill>
            <a:srgbClr val="142E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/>
          <p:nvPr/>
        </p:nvSpPr>
        <p:spPr>
          <a:xfrm>
            <a:off x="8778240" y="1874520"/>
            <a:ext cx="365760" cy="365760"/>
          </a:xfrm>
          <a:prstGeom prst="rect">
            <a:avLst/>
          </a:prstGeom>
          <a:solidFill>
            <a:srgbClr val="142E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/>
          <p:nvPr/>
        </p:nvSpPr>
        <p:spPr>
          <a:xfrm>
            <a:off x="9281160" y="1874520"/>
            <a:ext cx="365760" cy="365760"/>
          </a:xfrm>
          <a:prstGeom prst="rect">
            <a:avLst/>
          </a:prstGeom>
          <a:solidFill>
            <a:srgbClr val="142E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/>
          <p:nvPr/>
        </p:nvSpPr>
        <p:spPr>
          <a:xfrm>
            <a:off x="9784080" y="1874520"/>
            <a:ext cx="365760" cy="365760"/>
          </a:xfrm>
          <a:prstGeom prst="rect">
            <a:avLst/>
          </a:prstGeom>
          <a:solidFill>
            <a:srgbClr val="142E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/>
          <p:nvPr/>
        </p:nvSpPr>
        <p:spPr>
          <a:xfrm>
            <a:off x="10287000" y="1874520"/>
            <a:ext cx="365760" cy="365760"/>
          </a:xfrm>
          <a:prstGeom prst="rect">
            <a:avLst/>
          </a:prstGeom>
          <a:solidFill>
            <a:srgbClr val="142E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10789920" y="1874520"/>
            <a:ext cx="365760" cy="365760"/>
          </a:xfrm>
          <a:prstGeom prst="rect">
            <a:avLst/>
          </a:prstGeom>
          <a:solidFill>
            <a:srgbClr val="142E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11292840" y="1874520"/>
            <a:ext cx="365760" cy="365760"/>
          </a:xfrm>
          <a:prstGeom prst="rect">
            <a:avLst/>
          </a:prstGeom>
          <a:solidFill>
            <a:srgbClr val="142E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MIXTURE OF MEMORY</a:t>
            </a:r>
            <a:endParaRPr/>
          </a:p>
        </p:txBody>
      </p:sp>
      <p:sp>
        <p:nvSpPr>
          <p:cNvPr id="118" name="Google Shape;118;p13"/>
          <p:cNvSpPr txBox="1"/>
          <p:nvPr/>
        </p:nvSpPr>
        <p:spPr>
          <a:xfrm>
            <a:off x="731520" y="320040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4B4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Specialized Memory Optimizations for Agentic LLM Serving</a:t>
            </a:r>
            <a:endParaRPr/>
          </a:p>
        </p:txBody>
      </p:sp>
      <p:sp>
        <p:nvSpPr>
          <p:cNvPr id="119" name="Google Shape;119;p13"/>
          <p:cNvSpPr/>
          <p:nvPr/>
        </p:nvSpPr>
        <p:spPr>
          <a:xfrm>
            <a:off x="731520" y="3840480"/>
            <a:ext cx="2286000" cy="36576"/>
          </a:xfrm>
          <a:prstGeom prst="rect">
            <a:avLst/>
          </a:prstGeom>
          <a:solidFill>
            <a:srgbClr val="F4B4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3"/>
          <p:cNvSpPr txBox="1"/>
          <p:nvPr/>
        </p:nvSpPr>
        <p:spPr>
          <a:xfrm>
            <a:off x="731520" y="4023360"/>
            <a:ext cx="10698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Dakshinamoorthy A   </a:t>
            </a:r>
            <a:r>
              <a:rPr lang="en-US" sz="1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·   Vatsalam Krishna Jha   </a:t>
            </a: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·   Alexander Ryssdal-Banoun   ·   Andrew Lee   </a:t>
            </a:r>
            <a:endParaRPr/>
          </a:p>
        </p:txBody>
      </p:sp>
      <p:sp>
        <p:nvSpPr>
          <p:cNvPr id="121" name="Google Shape;121;p13"/>
          <p:cNvSpPr txBox="1"/>
          <p:nvPr/>
        </p:nvSpPr>
        <p:spPr>
          <a:xfrm>
            <a:off x="731520" y="457200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COMS E6998 · High Performance Machine Learning · Spring 2026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Columbia University   ·   Instructor: Dr. Kaoutar El Maghraoui</a:t>
            </a:r>
            <a:endParaRPr/>
          </a:p>
        </p:txBody>
      </p:sp>
      <p:sp>
        <p:nvSpPr>
          <p:cNvPr id="122" name="Google Shape;122;p13"/>
          <p:cNvSpPr/>
          <p:nvPr/>
        </p:nvSpPr>
        <p:spPr>
          <a:xfrm>
            <a:off x="731520" y="5760720"/>
            <a:ext cx="73152" cy="457200"/>
          </a:xfrm>
          <a:prstGeom prst="rect">
            <a:avLst/>
          </a:prstGeom>
          <a:solidFill>
            <a:srgbClr val="F4B4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3"/>
          <p:cNvSpPr txBox="1"/>
          <p:nvPr/>
        </p:nvSpPr>
        <p:spPr>
          <a:xfrm>
            <a:off x="914400" y="57150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GitHub  ·  github.com/al4744/MoM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4"/>
          <p:cNvSpPr/>
          <p:nvPr/>
        </p:nvSpPr>
        <p:spPr>
          <a:xfrm>
            <a:off x="457200" y="502920"/>
            <a:ext cx="73152" cy="457200"/>
          </a:xfrm>
          <a:prstGeom prst="rect">
            <a:avLst/>
          </a:prstGeom>
          <a:solidFill>
            <a:srgbClr val="F4B4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4"/>
          <p:cNvSpPr txBox="1"/>
          <p:nvPr/>
        </p:nvSpPr>
        <p:spPr>
          <a:xfrm>
            <a:off x="640080" y="411480"/>
            <a:ext cx="11338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Why agentic LLMs hit a memory wall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640080" y="960120"/>
            <a:ext cx="11338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4B4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Motivation &amp; Problem  ·  Part 1</a:t>
            </a:r>
            <a:endParaRPr/>
          </a:p>
        </p:txBody>
      </p:sp>
      <p:sp>
        <p:nvSpPr>
          <p:cNvPr id="132" name="Google Shape;132;p14"/>
          <p:cNvSpPr/>
          <p:nvPr/>
        </p:nvSpPr>
        <p:spPr>
          <a:xfrm>
            <a:off x="457200" y="1554480"/>
            <a:ext cx="5394960" cy="3200400"/>
          </a:xfrm>
          <a:prstGeom prst="roundRect">
            <a:avLst>
              <a:gd fmla="val 16667" name="adj"/>
            </a:avLst>
          </a:prstGeom>
          <a:solidFill>
            <a:srgbClr val="1E2E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4"/>
          <p:cNvSpPr/>
          <p:nvPr/>
        </p:nvSpPr>
        <p:spPr>
          <a:xfrm>
            <a:off x="457200" y="1554480"/>
            <a:ext cx="5394960" cy="73152"/>
          </a:xfrm>
          <a:prstGeom prst="rect">
            <a:avLst/>
          </a:prstGeom>
          <a:solidFill>
            <a:srgbClr val="4D9DE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4"/>
          <p:cNvSpPr txBox="1"/>
          <p:nvPr/>
        </p:nvSpPr>
        <p:spPr>
          <a:xfrm>
            <a:off x="731520" y="173736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D9DE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WORKLOAD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731520" y="2194560"/>
            <a:ext cx="48463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 agents pause, call a tool (DB, web,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API), then resume.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pause: 5 ms — 20 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25-turn agent has 24 such pauses.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50-turn conversation accumulates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10+ GB of KV cache.</a:t>
            </a:r>
            <a:endParaRPr/>
          </a:p>
        </p:txBody>
      </p:sp>
      <p:sp>
        <p:nvSpPr>
          <p:cNvPr id="136" name="Google Shape;136;p14"/>
          <p:cNvSpPr/>
          <p:nvPr/>
        </p:nvSpPr>
        <p:spPr>
          <a:xfrm>
            <a:off x="6309360" y="1554480"/>
            <a:ext cx="5394960" cy="3200400"/>
          </a:xfrm>
          <a:prstGeom prst="roundRect">
            <a:avLst>
              <a:gd fmla="val 16667" name="adj"/>
            </a:avLst>
          </a:prstGeom>
          <a:solidFill>
            <a:srgbClr val="1E2E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4"/>
          <p:cNvSpPr/>
          <p:nvPr/>
        </p:nvSpPr>
        <p:spPr>
          <a:xfrm>
            <a:off x="6309360" y="1554480"/>
            <a:ext cx="5394960" cy="73152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 txBox="1"/>
          <p:nvPr/>
        </p:nvSpPr>
        <p:spPr>
          <a:xfrm>
            <a:off x="6583680" y="173736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A43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COST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6583680" y="2194560"/>
            <a:ext cx="48463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vLLM evicts the KV cache when GPU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memory is needed.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Resume → full prefill recomputation.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50-turn conversation pays prefill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10–20 times.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TTFT: 800 ms+ on tool resume.</a:t>
            </a:r>
            <a:endParaRPr/>
          </a:p>
        </p:txBody>
      </p:sp>
      <p:sp>
        <p:nvSpPr>
          <p:cNvPr id="140" name="Google Shape;140;p14"/>
          <p:cNvSpPr/>
          <p:nvPr/>
        </p:nvSpPr>
        <p:spPr>
          <a:xfrm>
            <a:off x="457200" y="5120640"/>
            <a:ext cx="11247120" cy="822960"/>
          </a:xfrm>
          <a:prstGeom prst="roundRect">
            <a:avLst>
              <a:gd fmla="val 16667" name="adj"/>
            </a:avLst>
          </a:prstGeom>
          <a:solidFill>
            <a:srgbClr val="F4B4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457200" y="521208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B1E3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pay for the same KV cache dozens of times for a single agent task.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MoM · HPML Spring 2026  ·  github.com/al4744/MoM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/ 13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457200" y="502920"/>
            <a:ext cx="73152" cy="457200"/>
          </a:xfrm>
          <a:prstGeom prst="rect">
            <a:avLst/>
          </a:prstGeom>
          <a:solidFill>
            <a:srgbClr val="F4B4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 txBox="1"/>
          <p:nvPr/>
        </p:nvSpPr>
        <p:spPr>
          <a:xfrm>
            <a:off x="640080" y="411480"/>
            <a:ext cx="11338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Three places where memory bleeds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640080" y="960120"/>
            <a:ext cx="11338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4B4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Motivation &amp; Problem  ·  Part 2</a:t>
            </a:r>
            <a:endParaRPr/>
          </a:p>
        </p:txBody>
      </p:sp>
      <p:sp>
        <p:nvSpPr>
          <p:cNvPr id="152" name="Google Shape;152;p15"/>
          <p:cNvSpPr/>
          <p:nvPr/>
        </p:nvSpPr>
        <p:spPr>
          <a:xfrm>
            <a:off x="457200" y="1554480"/>
            <a:ext cx="3657600" cy="3291840"/>
          </a:xfrm>
          <a:prstGeom prst="roundRect">
            <a:avLst>
              <a:gd fmla="val 16667" name="adj"/>
            </a:avLst>
          </a:prstGeom>
          <a:solidFill>
            <a:srgbClr val="1E2E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457200" y="1554480"/>
            <a:ext cx="3657600" cy="73152"/>
          </a:xfrm>
          <a:prstGeom prst="rect">
            <a:avLst/>
          </a:prstGeom>
          <a:solidFill>
            <a:srgbClr val="4D9DE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 txBox="1"/>
          <p:nvPr/>
        </p:nvSpPr>
        <p:spPr>
          <a:xfrm>
            <a:off x="731520" y="1737360"/>
            <a:ext cx="731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4D9DE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731520" y="246888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Cache Eviction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731520" y="3017520"/>
            <a:ext cx="31089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Pauses during tool calls cause vLLM to evict KV blocks.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CBD5E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→ Wasted compute on resume.</a:t>
            </a:r>
            <a:endParaRPr/>
          </a:p>
        </p:txBody>
      </p:sp>
      <p:sp>
        <p:nvSpPr>
          <p:cNvPr id="157" name="Google Shape;157;p15"/>
          <p:cNvSpPr/>
          <p:nvPr/>
        </p:nvSpPr>
        <p:spPr>
          <a:xfrm>
            <a:off x="4297680" y="1554480"/>
            <a:ext cx="3657600" cy="3291840"/>
          </a:xfrm>
          <a:prstGeom prst="roundRect">
            <a:avLst>
              <a:gd fmla="val 16667" name="adj"/>
            </a:avLst>
          </a:prstGeom>
          <a:solidFill>
            <a:srgbClr val="1E2E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4297680" y="1554480"/>
            <a:ext cx="3657600" cy="73152"/>
          </a:xfrm>
          <a:prstGeom prst="rect">
            <a:avLst/>
          </a:prstGeom>
          <a:solidFill>
            <a:srgbClr val="F4B4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 txBox="1"/>
          <p:nvPr/>
        </p:nvSpPr>
        <p:spPr>
          <a:xfrm>
            <a:off x="4572000" y="1737360"/>
            <a:ext cx="731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4B4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4572000" y="246888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KV Cache Bloat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4572000" y="3017520"/>
            <a:ext cx="31089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KV cache scales linearly with conversation length.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CBD5E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→ 50-turn context ≈ 10 GB KV.</a:t>
            </a:r>
            <a:endParaRPr/>
          </a:p>
        </p:txBody>
      </p:sp>
      <p:sp>
        <p:nvSpPr>
          <p:cNvPr id="162" name="Google Shape;162;p15"/>
          <p:cNvSpPr/>
          <p:nvPr/>
        </p:nvSpPr>
        <p:spPr>
          <a:xfrm>
            <a:off x="8138160" y="1554480"/>
            <a:ext cx="3657600" cy="3291840"/>
          </a:xfrm>
          <a:prstGeom prst="roundRect">
            <a:avLst>
              <a:gd fmla="val 16667" name="adj"/>
            </a:avLst>
          </a:prstGeom>
          <a:solidFill>
            <a:srgbClr val="1E2E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8138160" y="1554480"/>
            <a:ext cx="3657600" cy="73152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5"/>
          <p:cNvSpPr txBox="1"/>
          <p:nvPr/>
        </p:nvSpPr>
        <p:spPr>
          <a:xfrm>
            <a:off x="8412480" y="1737360"/>
            <a:ext cx="731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EA43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8412480" y="246888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Cold-Start Stalls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8412480" y="3017520"/>
            <a:ext cx="31089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First token after tool-return pays full prefill cost.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CBD5E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→ 800 ms+ TTFT on resume.</a:t>
            </a:r>
            <a:endParaRPr/>
          </a:p>
        </p:txBody>
      </p:sp>
      <p:sp>
        <p:nvSpPr>
          <p:cNvPr id="167" name="Google Shape;167;p15"/>
          <p:cNvSpPr/>
          <p:nvPr/>
        </p:nvSpPr>
        <p:spPr>
          <a:xfrm>
            <a:off x="457200" y="5212080"/>
            <a:ext cx="11247120" cy="777240"/>
          </a:xfrm>
          <a:prstGeom prst="roundRect">
            <a:avLst>
              <a:gd fmla="val 16667" name="adj"/>
            </a:avLst>
          </a:prstGeom>
          <a:solidFill>
            <a:srgbClr val="F4B4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5"/>
          <p:cNvSpPr txBox="1"/>
          <p:nvPr/>
        </p:nvSpPr>
        <p:spPr>
          <a:xfrm>
            <a:off x="457200" y="5303520"/>
            <a:ext cx="1124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B1E3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Our goal: cut redundant prefill, shrink KV memory, accelerate inference without changing the model.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MoM · HPML Spring 2026  ·  github.com/al4744/MoM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/ 13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457200" y="502920"/>
            <a:ext cx="73152" cy="457200"/>
          </a:xfrm>
          <a:prstGeom prst="rect">
            <a:avLst/>
          </a:prstGeom>
          <a:solidFill>
            <a:srgbClr val="F4B4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 txBox="1"/>
          <p:nvPr/>
        </p:nvSpPr>
        <p:spPr>
          <a:xfrm>
            <a:off x="640080" y="411480"/>
            <a:ext cx="11338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Three optimizations, one stack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640080" y="960120"/>
            <a:ext cx="11338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4B4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Technical Approach  ·  System overview</a:t>
            </a:r>
            <a:endParaRPr/>
          </a:p>
        </p:txBody>
      </p:sp>
      <p:sp>
        <p:nvSpPr>
          <p:cNvPr id="179" name="Google Shape;179;p16"/>
          <p:cNvSpPr/>
          <p:nvPr/>
        </p:nvSpPr>
        <p:spPr>
          <a:xfrm>
            <a:off x="4251960" y="1554480"/>
            <a:ext cx="3657600" cy="731520"/>
          </a:xfrm>
          <a:prstGeom prst="roundRect">
            <a:avLst>
              <a:gd fmla="val 16667" name="adj"/>
            </a:avLst>
          </a:prstGeom>
          <a:solidFill>
            <a:srgbClr val="142E5C"/>
          </a:solidFill>
          <a:ln cap="flat" cmpd="sng" w="190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 txBox="1"/>
          <p:nvPr/>
        </p:nvSpPr>
        <p:spPr>
          <a:xfrm>
            <a:off x="4251960" y="155448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vLLM v0.6.4 (vendored, patched)</a:t>
            </a:r>
            <a:endParaRPr/>
          </a:p>
        </p:txBody>
      </p:sp>
      <p:sp>
        <p:nvSpPr>
          <p:cNvPr id="181" name="Google Shape;181;p16"/>
          <p:cNvSpPr/>
          <p:nvPr/>
        </p:nvSpPr>
        <p:spPr>
          <a:xfrm>
            <a:off x="457200" y="2926080"/>
            <a:ext cx="3474720" cy="1463040"/>
          </a:xfrm>
          <a:prstGeom prst="roundRect">
            <a:avLst>
              <a:gd fmla="val 16667" name="adj"/>
            </a:avLst>
          </a:prstGeom>
          <a:solidFill>
            <a:srgbClr val="1E2E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457200" y="2926080"/>
            <a:ext cx="3474720" cy="73152"/>
          </a:xfrm>
          <a:prstGeom prst="rect">
            <a:avLst/>
          </a:prstGeom>
          <a:solidFill>
            <a:srgbClr val="4D9DE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 txBox="1"/>
          <p:nvPr/>
        </p:nvSpPr>
        <p:spPr>
          <a:xfrm>
            <a:off x="731520" y="310896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D9DE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WORKSTREAM A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731520" y="342900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KV Retention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731520" y="3886200"/>
            <a:ext cx="2926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pin · evict</a:t>
            </a:r>
            <a:endParaRPr/>
          </a:p>
        </p:txBody>
      </p:sp>
      <p:sp>
        <p:nvSpPr>
          <p:cNvPr id="186" name="Google Shape;186;p16"/>
          <p:cNvSpPr/>
          <p:nvPr/>
        </p:nvSpPr>
        <p:spPr>
          <a:xfrm>
            <a:off x="4343400" y="2926080"/>
            <a:ext cx="3474720" cy="1463040"/>
          </a:xfrm>
          <a:prstGeom prst="roundRect">
            <a:avLst>
              <a:gd fmla="val 16667" name="adj"/>
            </a:avLst>
          </a:prstGeom>
          <a:solidFill>
            <a:srgbClr val="1E2E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/>
          <p:nvPr/>
        </p:nvSpPr>
        <p:spPr>
          <a:xfrm>
            <a:off x="4343400" y="2926080"/>
            <a:ext cx="3474720" cy="73152"/>
          </a:xfrm>
          <a:prstGeom prst="rect">
            <a:avLst/>
          </a:prstGeom>
          <a:solidFill>
            <a:srgbClr val="F4B4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6"/>
          <p:cNvSpPr txBox="1"/>
          <p:nvPr/>
        </p:nvSpPr>
        <p:spPr>
          <a:xfrm>
            <a:off x="4617720" y="310896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4B4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WORKSTREAM B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4617720" y="342900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KV Quantization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4617720" y="38862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INT8 · INT4</a:t>
            </a:r>
            <a:endParaRPr/>
          </a:p>
        </p:txBody>
      </p:sp>
      <p:sp>
        <p:nvSpPr>
          <p:cNvPr id="191" name="Google Shape;191;p16"/>
          <p:cNvSpPr/>
          <p:nvPr/>
        </p:nvSpPr>
        <p:spPr>
          <a:xfrm>
            <a:off x="8229600" y="2926080"/>
            <a:ext cx="3474720" cy="1463040"/>
          </a:xfrm>
          <a:prstGeom prst="roundRect">
            <a:avLst>
              <a:gd fmla="val 16667" name="adj"/>
            </a:avLst>
          </a:prstGeom>
          <a:solidFill>
            <a:srgbClr val="1E2E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6"/>
          <p:cNvSpPr/>
          <p:nvPr/>
        </p:nvSpPr>
        <p:spPr>
          <a:xfrm>
            <a:off x="8229600" y="2926080"/>
            <a:ext cx="3474720" cy="73152"/>
          </a:xfrm>
          <a:prstGeom prst="rect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6"/>
          <p:cNvSpPr txBox="1"/>
          <p:nvPr/>
        </p:nvSpPr>
        <p:spPr>
          <a:xfrm>
            <a:off x="8503920" y="310896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4A8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WORKSTREAM C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8503920" y="342900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torch.compile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8503920" y="38862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prefill + decode</a:t>
            </a:r>
            <a:endParaRPr/>
          </a:p>
        </p:txBody>
      </p:sp>
      <p:sp>
        <p:nvSpPr>
          <p:cNvPr id="196" name="Google Shape;196;p16"/>
          <p:cNvSpPr/>
          <p:nvPr/>
        </p:nvSpPr>
        <p:spPr>
          <a:xfrm>
            <a:off x="2286000" y="4846320"/>
            <a:ext cx="7589520" cy="822960"/>
          </a:xfrm>
          <a:prstGeom prst="roundRect">
            <a:avLst>
              <a:gd fmla="val 16667" name="adj"/>
            </a:avLst>
          </a:prstGeom>
          <a:solidFill>
            <a:srgbClr val="142E5C"/>
          </a:solidFill>
          <a:ln cap="flat" cmpd="sng" w="190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6"/>
          <p:cNvSpPr txBox="1"/>
          <p:nvPr/>
        </p:nvSpPr>
        <p:spPr>
          <a:xfrm>
            <a:off x="2301150" y="5150908"/>
            <a:ext cx="7589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WORKSTREAM D — Evaluation  ·  Metrics</a:t>
            </a:r>
            <a:r>
              <a:rPr b="1" lang="en-US"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·  </a:t>
            </a:r>
            <a:r>
              <a:rPr b="1" lang="en-US"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1" lang="en-US" sz="16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61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unit tests</a:t>
            </a:r>
            <a:endParaRPr/>
          </a:p>
        </p:txBody>
      </p:sp>
      <p:sp>
        <p:nvSpPr>
          <p:cNvPr id="198" name="Google Shape;198;p16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4B4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prevents recompute  ·  B halves KV memory  ·  C speeds the kernels  ·  D measures everything</a:t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MoM · HPML Spring 2026  ·  github.com/al4744/MoM</a:t>
            </a:r>
            <a:endParaRPr/>
          </a:p>
        </p:txBody>
      </p:sp>
      <p:sp>
        <p:nvSpPr>
          <p:cNvPr id="200" name="Google Shape;200;p1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 / 13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/>
          <p:nvPr/>
        </p:nvSpPr>
        <p:spPr>
          <a:xfrm>
            <a:off x="457200" y="502920"/>
            <a:ext cx="73152" cy="457200"/>
          </a:xfrm>
          <a:prstGeom prst="rect">
            <a:avLst/>
          </a:prstGeom>
          <a:solidFill>
            <a:srgbClr val="F4B4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 txBox="1"/>
          <p:nvPr/>
        </p:nvSpPr>
        <p:spPr>
          <a:xfrm>
            <a:off x="640080" y="411480"/>
            <a:ext cx="11338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Workstream A — Tool-Aware KV Retention</a:t>
            </a:r>
            <a:endParaRPr/>
          </a:p>
        </p:txBody>
      </p:sp>
      <p:sp>
        <p:nvSpPr>
          <p:cNvPr id="208" name="Google Shape;208;p17"/>
          <p:cNvSpPr txBox="1"/>
          <p:nvPr/>
        </p:nvSpPr>
        <p:spPr>
          <a:xfrm>
            <a:off x="640080" y="960120"/>
            <a:ext cx="11338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4B4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Technical Approach  </a:t>
            </a:r>
            <a:endParaRPr/>
          </a:p>
        </p:txBody>
      </p:sp>
      <p:sp>
        <p:nvSpPr>
          <p:cNvPr id="209" name="Google Shape;209;p17"/>
          <p:cNvSpPr/>
          <p:nvPr/>
        </p:nvSpPr>
        <p:spPr>
          <a:xfrm>
            <a:off x="457200" y="1554480"/>
            <a:ext cx="6400800" cy="4114800"/>
          </a:xfrm>
          <a:prstGeom prst="roundRect">
            <a:avLst>
              <a:gd fmla="val 16667" name="adj"/>
            </a:avLst>
          </a:prstGeom>
          <a:solidFill>
            <a:srgbClr val="1E2E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7"/>
          <p:cNvSpPr/>
          <p:nvPr/>
        </p:nvSpPr>
        <p:spPr>
          <a:xfrm>
            <a:off x="457200" y="1554480"/>
            <a:ext cx="6400800" cy="73152"/>
          </a:xfrm>
          <a:prstGeom prst="rect">
            <a:avLst/>
          </a:prstGeom>
          <a:solidFill>
            <a:srgbClr val="4D9DE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7"/>
          <p:cNvSpPr txBox="1"/>
          <p:nvPr/>
        </p:nvSpPr>
        <p:spPr>
          <a:xfrm>
            <a:off x="731520" y="1691640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D9DE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Mechanism</a:t>
            </a: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731520" y="2057400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EMA-based latency predictor classifies tool calls</a:t>
            </a:r>
            <a:endParaRPr/>
          </a:p>
        </p:txBody>
      </p:sp>
      <p:sp>
        <p:nvSpPr>
          <p:cNvPr id="213" name="Google Shape;213;p17"/>
          <p:cNvSpPr/>
          <p:nvPr/>
        </p:nvSpPr>
        <p:spPr>
          <a:xfrm>
            <a:off x="777240" y="2743200"/>
            <a:ext cx="228600" cy="228600"/>
          </a:xfrm>
          <a:prstGeom prst="ellipse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7"/>
          <p:cNvSpPr txBox="1"/>
          <p:nvPr/>
        </p:nvSpPr>
        <p:spPr>
          <a:xfrm>
            <a:off x="1143000" y="260604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4A8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PIN</a:t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2377440" y="260604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fast tools  (&lt; 500 ms)</a:t>
            </a:r>
            <a:endParaRPr/>
          </a:p>
        </p:txBody>
      </p:sp>
      <p:sp>
        <p:nvSpPr>
          <p:cNvPr id="216" name="Google Shape;216;p17"/>
          <p:cNvSpPr txBox="1"/>
          <p:nvPr/>
        </p:nvSpPr>
        <p:spPr>
          <a:xfrm>
            <a:off x="4572000" y="260604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→  keep KV in VRAM</a:t>
            </a:r>
            <a:endParaRPr/>
          </a:p>
        </p:txBody>
      </p:sp>
      <p:sp>
        <p:nvSpPr>
          <p:cNvPr id="217" name="Google Shape;217;p17"/>
          <p:cNvSpPr/>
          <p:nvPr/>
        </p:nvSpPr>
        <p:spPr>
          <a:xfrm>
            <a:off x="777240" y="3794755"/>
            <a:ext cx="228600" cy="228600"/>
          </a:xfrm>
          <a:prstGeom prst="ellipse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7"/>
          <p:cNvSpPr txBox="1"/>
          <p:nvPr/>
        </p:nvSpPr>
        <p:spPr>
          <a:xfrm>
            <a:off x="1143000" y="3657595"/>
            <a:ext cx="128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A43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EVICT</a:t>
            </a:r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2377440" y="3657595"/>
            <a:ext cx="2194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long tools  (&gt; 2 s)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4572000" y="3657595"/>
            <a:ext cx="2194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→  allow preemption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731520" y="5074920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4B4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TTL  =  predicted_latency × safety_factor   (per-tool EMA)</a:t>
            </a:r>
            <a:endParaRPr/>
          </a:p>
        </p:txBody>
      </p:sp>
      <p:sp>
        <p:nvSpPr>
          <p:cNvPr id="222" name="Google Shape;222;p17"/>
          <p:cNvSpPr/>
          <p:nvPr/>
        </p:nvSpPr>
        <p:spPr>
          <a:xfrm>
            <a:off x="7178040" y="1554480"/>
            <a:ext cx="4572000" cy="4114800"/>
          </a:xfrm>
          <a:prstGeom prst="roundRect">
            <a:avLst>
              <a:gd fmla="val 16667" name="adj"/>
            </a:avLst>
          </a:prstGeom>
          <a:solidFill>
            <a:srgbClr val="34A8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7"/>
          <p:cNvSpPr txBox="1"/>
          <p:nvPr/>
        </p:nvSpPr>
        <p:spPr>
          <a:xfrm>
            <a:off x="7589520" y="1811635"/>
            <a:ext cx="4206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B1E3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PROVEN RESULT</a:t>
            </a:r>
            <a:endParaRPr/>
          </a:p>
        </p:txBody>
      </p:sp>
      <p:sp>
        <p:nvSpPr>
          <p:cNvPr id="224" name="Google Shape;224;p17"/>
          <p:cNvSpPr txBox="1"/>
          <p:nvPr/>
        </p:nvSpPr>
        <p:spPr>
          <a:xfrm>
            <a:off x="7413970" y="1959360"/>
            <a:ext cx="4206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0" u="none" cap="none" strike="noStrike">
                <a:solidFill>
                  <a:srgbClr val="0B1E3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10.2×</a:t>
            </a:r>
            <a:endParaRPr/>
          </a:p>
        </p:txBody>
      </p:sp>
      <p:sp>
        <p:nvSpPr>
          <p:cNvPr id="225" name="Google Shape;225;p17"/>
          <p:cNvSpPr txBox="1"/>
          <p:nvPr/>
        </p:nvSpPr>
        <p:spPr>
          <a:xfrm>
            <a:off x="7360920" y="352044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B1E3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TTFT speedup</a:t>
            </a:r>
            <a:endParaRPr/>
          </a:p>
        </p:txBody>
      </p:sp>
      <p:sp>
        <p:nvSpPr>
          <p:cNvPr id="226" name="Google Shape;226;p17"/>
          <p:cNvSpPr txBox="1"/>
          <p:nvPr/>
        </p:nvSpPr>
        <p:spPr>
          <a:xfrm>
            <a:off x="7360920" y="402336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B1E3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843 ms  →  82.5 ms</a:t>
            </a:r>
            <a:endParaRPr/>
          </a:p>
        </p:txBody>
      </p:sp>
      <p:sp>
        <p:nvSpPr>
          <p:cNvPr id="227" name="Google Shape;227;p17"/>
          <p:cNvSpPr txBox="1"/>
          <p:nvPr/>
        </p:nvSpPr>
        <p:spPr>
          <a:xfrm>
            <a:off x="7360920" y="4663440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B1E3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180 KV blocks pinned  ·  180 reused  ·  0 evicted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B1E3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Llama 3 8B  ·  L4 GPU  ·  microbenchmark</a:t>
            </a:r>
            <a:endParaRPr/>
          </a:p>
        </p:txBody>
      </p:sp>
      <p:sp>
        <p:nvSpPr>
          <p:cNvPr id="228" name="Google Shape;228;p17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MoM · HPML Spring 2026  ·  github.com/al4744/MoM</a:t>
            </a:r>
            <a:endParaRPr/>
          </a:p>
        </p:txBody>
      </p:sp>
      <p:sp>
        <p:nvSpPr>
          <p:cNvPr id="229" name="Google Shape;229;p17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 / 13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8"/>
          <p:cNvSpPr/>
          <p:nvPr/>
        </p:nvSpPr>
        <p:spPr>
          <a:xfrm>
            <a:off x="457200" y="502920"/>
            <a:ext cx="73152" cy="457200"/>
          </a:xfrm>
          <a:prstGeom prst="rect">
            <a:avLst/>
          </a:prstGeom>
          <a:solidFill>
            <a:srgbClr val="F4B4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 txBox="1"/>
          <p:nvPr/>
        </p:nvSpPr>
        <p:spPr>
          <a:xfrm>
            <a:off x="640080" y="411480"/>
            <a:ext cx="11338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Workstream B — KV Cache Quantization (INT8 / INT4)</a:t>
            </a:r>
            <a:endParaRPr/>
          </a:p>
        </p:txBody>
      </p:sp>
      <p:sp>
        <p:nvSpPr>
          <p:cNvPr id="237" name="Google Shape;237;p18"/>
          <p:cNvSpPr txBox="1"/>
          <p:nvPr/>
        </p:nvSpPr>
        <p:spPr>
          <a:xfrm>
            <a:off x="640080" y="960120"/>
            <a:ext cx="11338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4B4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Technical Approach </a:t>
            </a:r>
            <a:endParaRPr/>
          </a:p>
        </p:txBody>
      </p:sp>
      <p:sp>
        <p:nvSpPr>
          <p:cNvPr id="238" name="Google Shape;238;p18"/>
          <p:cNvSpPr/>
          <p:nvPr/>
        </p:nvSpPr>
        <p:spPr>
          <a:xfrm>
            <a:off x="457200" y="1554480"/>
            <a:ext cx="6400800" cy="4114800"/>
          </a:xfrm>
          <a:prstGeom prst="roundRect">
            <a:avLst>
              <a:gd fmla="val 16667" name="adj"/>
            </a:avLst>
          </a:prstGeom>
          <a:solidFill>
            <a:srgbClr val="1E2E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/>
          <p:nvPr/>
        </p:nvSpPr>
        <p:spPr>
          <a:xfrm>
            <a:off x="457200" y="1554480"/>
            <a:ext cx="6400800" cy="73152"/>
          </a:xfrm>
          <a:prstGeom prst="rect">
            <a:avLst/>
          </a:prstGeom>
          <a:solidFill>
            <a:srgbClr val="F4B4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 txBox="1"/>
          <p:nvPr/>
        </p:nvSpPr>
        <p:spPr>
          <a:xfrm>
            <a:off x="731520" y="1691640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4B4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Technique</a:t>
            </a:r>
            <a:endParaRPr/>
          </a:p>
        </p:txBody>
      </p:sp>
      <p:sp>
        <p:nvSpPr>
          <p:cNvPr id="241" name="Google Shape;241;p18"/>
          <p:cNvSpPr txBox="1"/>
          <p:nvPr/>
        </p:nvSpPr>
        <p:spPr>
          <a:xfrm>
            <a:off x="731520" y="2057400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Per-block symmetric KV quantization</a:t>
            </a:r>
            <a:endParaRPr/>
          </a:p>
        </p:txBody>
      </p:sp>
      <p:sp>
        <p:nvSpPr>
          <p:cNvPr id="242" name="Google Shape;242;p18"/>
          <p:cNvSpPr/>
          <p:nvPr/>
        </p:nvSpPr>
        <p:spPr>
          <a:xfrm>
            <a:off x="731520" y="2606040"/>
            <a:ext cx="5852160" cy="1463040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8"/>
          <p:cNvSpPr txBox="1"/>
          <p:nvPr/>
        </p:nvSpPr>
        <p:spPr>
          <a:xfrm>
            <a:off x="914400" y="2743200"/>
            <a:ext cx="548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A853"/>
                </a:solidFill>
                <a:latin typeface="Courier New"/>
                <a:ea typeface="Courier New"/>
                <a:cs typeface="Courier New"/>
                <a:sym typeface="Courier New"/>
              </a:rPr>
              <a:t>INT8   scale = max(|x|) / 127           →  2× compression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A853"/>
                </a:solidFill>
                <a:latin typeface="Courier New"/>
                <a:ea typeface="Courier New"/>
                <a:cs typeface="Courier New"/>
                <a:sym typeface="Courier New"/>
              </a:rPr>
              <a:t>INT4   packed nibbles, scale × ±7       →  4× compression</a:t>
            </a:r>
            <a:endParaRPr/>
          </a:p>
        </p:txBody>
      </p:sp>
      <p:sp>
        <p:nvSpPr>
          <p:cNvPr id="244" name="Google Shape;244;p18"/>
          <p:cNvSpPr txBox="1"/>
          <p:nvPr/>
        </p:nvSpPr>
        <p:spPr>
          <a:xfrm>
            <a:off x="731520" y="4251960"/>
            <a:ext cx="58521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Selective retention: recent turns kept FP16, older quantized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Pluggable into vLLM swap-in / swap-out paths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src/quantization/{config,types,quantizer,policy}.py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configs/retention_int8.yaml  ·  configs/retention_int4.yaml</a:t>
            </a:r>
            <a:endParaRPr/>
          </a:p>
        </p:txBody>
      </p:sp>
      <p:sp>
        <p:nvSpPr>
          <p:cNvPr id="245" name="Google Shape;245;p18"/>
          <p:cNvSpPr/>
          <p:nvPr/>
        </p:nvSpPr>
        <p:spPr>
          <a:xfrm>
            <a:off x="7178040" y="1554480"/>
            <a:ext cx="4572000" cy="4114800"/>
          </a:xfrm>
          <a:prstGeom prst="roundRect">
            <a:avLst>
              <a:gd fmla="val 16667" name="adj"/>
            </a:avLst>
          </a:prstGeom>
          <a:solidFill>
            <a:srgbClr val="F4B4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8"/>
          <p:cNvSpPr txBox="1"/>
          <p:nvPr/>
        </p:nvSpPr>
        <p:spPr>
          <a:xfrm>
            <a:off x="7589520" y="1801035"/>
            <a:ext cx="4206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B1E3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PROVEN RESULT</a:t>
            </a:r>
            <a:endParaRPr/>
          </a:p>
        </p:txBody>
      </p:sp>
      <p:sp>
        <p:nvSpPr>
          <p:cNvPr id="247" name="Google Shape;247;p18"/>
          <p:cNvSpPr txBox="1"/>
          <p:nvPr/>
        </p:nvSpPr>
        <p:spPr>
          <a:xfrm>
            <a:off x="7589520" y="1748022"/>
            <a:ext cx="42063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0" u="none" cap="none" strike="noStrike">
                <a:solidFill>
                  <a:srgbClr val="0B1E3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4×</a:t>
            </a:r>
            <a:endParaRPr/>
          </a:p>
        </p:txBody>
      </p:sp>
      <p:sp>
        <p:nvSpPr>
          <p:cNvPr id="248" name="Google Shape;248;p18"/>
          <p:cNvSpPr txBox="1"/>
          <p:nvPr/>
        </p:nvSpPr>
        <p:spPr>
          <a:xfrm>
            <a:off x="7360920" y="352044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B1E3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KV memory reduction (INT4)</a:t>
            </a:r>
            <a:endParaRPr/>
          </a:p>
        </p:txBody>
      </p:sp>
      <p:sp>
        <p:nvSpPr>
          <p:cNvPr id="249" name="Google Shape;249;p18"/>
          <p:cNvSpPr txBox="1"/>
          <p:nvPr/>
        </p:nvSpPr>
        <p:spPr>
          <a:xfrm>
            <a:off x="7360920" y="402336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B1E3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9.4 GB  →  4.7 GB (INT4)</a:t>
            </a:r>
            <a:endParaRPr/>
          </a:p>
        </p:txBody>
      </p:sp>
      <p:sp>
        <p:nvSpPr>
          <p:cNvPr id="250" name="Google Shape;250;p18"/>
          <p:cNvSpPr txBox="1"/>
          <p:nvPr/>
        </p:nvSpPr>
        <p:spPr>
          <a:xfrm>
            <a:off x="7360920" y="4663440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B1E3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TTFT  96.7 ms (INT8) vs 94.7 ms (INT4)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B1E3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slowdown observed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B1E3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Llama 3.1-8B  ·  L4 GPU  ·  4-trace mixed-tool benchmark</a:t>
            </a:r>
            <a:endParaRPr/>
          </a:p>
        </p:txBody>
      </p:sp>
      <p:sp>
        <p:nvSpPr>
          <p:cNvPr id="251" name="Google Shape;251;p18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MoM · HPML Spring 2026  ·  github.com/al4744/MoM</a:t>
            </a:r>
            <a:endParaRPr/>
          </a:p>
        </p:txBody>
      </p:sp>
      <p:sp>
        <p:nvSpPr>
          <p:cNvPr id="252" name="Google Shape;252;p18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 / 13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457200" y="502920"/>
            <a:ext cx="73152" cy="457200"/>
          </a:xfrm>
          <a:prstGeom prst="rect">
            <a:avLst/>
          </a:prstGeom>
          <a:solidFill>
            <a:srgbClr val="F4B4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9"/>
          <p:cNvSpPr txBox="1"/>
          <p:nvPr/>
        </p:nvSpPr>
        <p:spPr>
          <a:xfrm>
            <a:off x="640080" y="411480"/>
            <a:ext cx="11338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Workstream C — torch.compile  +  Workstream D — Evaluation</a:t>
            </a:r>
            <a:endParaRPr/>
          </a:p>
        </p:txBody>
      </p:sp>
      <p:sp>
        <p:nvSpPr>
          <p:cNvPr id="260" name="Google Shape;260;p19"/>
          <p:cNvSpPr txBox="1"/>
          <p:nvPr/>
        </p:nvSpPr>
        <p:spPr>
          <a:xfrm>
            <a:off x="365830" y="1293345"/>
            <a:ext cx="11338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4B4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Technical Approach </a:t>
            </a:r>
            <a:endParaRPr/>
          </a:p>
        </p:txBody>
      </p:sp>
      <p:sp>
        <p:nvSpPr>
          <p:cNvPr id="261" name="Google Shape;261;p19"/>
          <p:cNvSpPr/>
          <p:nvPr/>
        </p:nvSpPr>
        <p:spPr>
          <a:xfrm>
            <a:off x="457200" y="1554480"/>
            <a:ext cx="5394960" cy="4206240"/>
          </a:xfrm>
          <a:prstGeom prst="roundRect">
            <a:avLst>
              <a:gd fmla="val 16667" name="adj"/>
            </a:avLst>
          </a:prstGeom>
          <a:solidFill>
            <a:srgbClr val="1E2E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457200" y="1554480"/>
            <a:ext cx="5394960" cy="73152"/>
          </a:xfrm>
          <a:prstGeom prst="rect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9"/>
          <p:cNvSpPr txBox="1"/>
          <p:nvPr/>
        </p:nvSpPr>
        <p:spPr>
          <a:xfrm>
            <a:off x="731520" y="173736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4A8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WORKSTREAM C  —  torch.compile</a:t>
            </a:r>
            <a:endParaRPr/>
          </a:p>
        </p:txBody>
      </p:sp>
      <p:sp>
        <p:nvSpPr>
          <p:cNvPr id="264" name="Google Shape;264;p19"/>
          <p:cNvSpPr txBox="1"/>
          <p:nvPr/>
        </p:nvSpPr>
        <p:spPr>
          <a:xfrm>
            <a:off x="731520" y="2331720"/>
            <a:ext cx="484632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Applied separately to prefill and decode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via VLLM_TORCH_COMPILE_LEVEL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Phase-tagged profiler ranges: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mom.vllm.prefill  ·  mom.vllm.decode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Sweeps: 1K · 4K · 8K · 16K context lengths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PyTorch Profiler  +  NVIDIA Nsight Systems</a:t>
            </a:r>
            <a:endParaRPr/>
          </a:p>
        </p:txBody>
      </p:sp>
      <p:sp>
        <p:nvSpPr>
          <p:cNvPr id="265" name="Google Shape;265;p19"/>
          <p:cNvSpPr/>
          <p:nvPr/>
        </p:nvSpPr>
        <p:spPr>
          <a:xfrm>
            <a:off x="6309360" y="1554480"/>
            <a:ext cx="5394960" cy="4206240"/>
          </a:xfrm>
          <a:prstGeom prst="roundRect">
            <a:avLst>
              <a:gd fmla="val 16667" name="adj"/>
            </a:avLst>
          </a:prstGeom>
          <a:solidFill>
            <a:srgbClr val="1E2E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6309360" y="1554480"/>
            <a:ext cx="5394960" cy="73152"/>
          </a:xfrm>
          <a:prstGeom prst="rect">
            <a:avLst/>
          </a:prstGeom>
          <a:solidFill>
            <a:srgbClr val="4D9DE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9"/>
          <p:cNvSpPr txBox="1"/>
          <p:nvPr/>
        </p:nvSpPr>
        <p:spPr>
          <a:xfrm>
            <a:off x="6583680" y="173736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D9DE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WORKSTREAM D  —  Evaluation</a:t>
            </a:r>
            <a:endParaRPr/>
          </a:p>
        </p:txBody>
      </p:sp>
      <p:sp>
        <p:nvSpPr>
          <p:cNvPr id="268" name="Google Shape;268;p19"/>
          <p:cNvSpPr txBox="1"/>
          <p:nvPr/>
        </p:nvSpPr>
        <p:spPr>
          <a:xfrm>
            <a:off x="6583675" y="2331725"/>
            <a:ext cx="48462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Three conditions identified for retention to win:</a:t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C₁ asymmetric pressure · C₂ no queue saturation · C₃ TTL &gt; pause</a:t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Two regimes measured:</a:t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L4 isolation:  10.2× speedup</a:t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H100 batched:  100% pin survival, TTFT dilutes</a:t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→ retention is regime-dependent</a:t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Reasoning preserved: 0 pp delta on GSM8K · BBH (n=50)</a:t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Metrics: TTFT · TBT · post-tool prefill · VRAM · preemption count</a:t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261 unit tests · full ablation matrix</a:t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457200" y="5897880"/>
            <a:ext cx="11247120" cy="411480"/>
          </a:xfrm>
          <a:prstGeom prst="roundRect">
            <a:avLst>
              <a:gd fmla="val 16667" name="adj"/>
            </a:avLst>
          </a:prstGeom>
          <a:solidFill>
            <a:srgbClr val="142E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9"/>
          <p:cNvSpPr txBox="1"/>
          <p:nvPr/>
        </p:nvSpPr>
        <p:spPr>
          <a:xfrm>
            <a:off x="457200" y="589788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4B4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Synthetic traces (controlled)  +  lm-eval-harness  (mmlu · gsm8k · bbh)  for accuracy</a:t>
            </a:r>
            <a:endParaRPr/>
          </a:p>
        </p:txBody>
      </p:sp>
      <p:sp>
        <p:nvSpPr>
          <p:cNvPr id="271" name="Google Shape;271;p19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MoM · HPML Spring 2026  ·  github.com/al4744/MoM</a:t>
            </a:r>
            <a:endParaRPr/>
          </a:p>
        </p:txBody>
      </p:sp>
      <p:sp>
        <p:nvSpPr>
          <p:cNvPr id="272" name="Google Shape;272;p19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 / 13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0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0B1E3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457200" y="502920"/>
            <a:ext cx="73152" cy="457200"/>
          </a:xfrm>
          <a:prstGeom prst="rect">
            <a:avLst/>
          </a:prstGeom>
          <a:solidFill>
            <a:srgbClr val="F4B4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0"/>
          <p:cNvSpPr txBox="1"/>
          <p:nvPr/>
        </p:nvSpPr>
        <p:spPr>
          <a:xfrm>
            <a:off x="640080" y="411480"/>
            <a:ext cx="11338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we measured everything</a:t>
            </a:r>
            <a:endParaRPr/>
          </a:p>
        </p:txBody>
      </p:sp>
      <p:sp>
        <p:nvSpPr>
          <p:cNvPr id="280" name="Google Shape;280;p20"/>
          <p:cNvSpPr txBox="1"/>
          <p:nvPr/>
        </p:nvSpPr>
        <p:spPr>
          <a:xfrm>
            <a:off x="640080" y="960120"/>
            <a:ext cx="11338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4B4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Technical Approach  ·  Methodology</a:t>
            </a:r>
            <a:endParaRPr/>
          </a:p>
        </p:txBody>
      </p:sp>
      <p:sp>
        <p:nvSpPr>
          <p:cNvPr id="281" name="Google Shape;281;p20"/>
          <p:cNvSpPr/>
          <p:nvPr/>
        </p:nvSpPr>
        <p:spPr>
          <a:xfrm>
            <a:off x="457200" y="1554480"/>
            <a:ext cx="11247120" cy="868680"/>
          </a:xfrm>
          <a:prstGeom prst="roundRect">
            <a:avLst>
              <a:gd fmla="val 16667" name="adj"/>
            </a:avLst>
          </a:prstGeom>
          <a:solidFill>
            <a:srgbClr val="1E2E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0"/>
          <p:cNvSpPr/>
          <p:nvPr/>
        </p:nvSpPr>
        <p:spPr>
          <a:xfrm>
            <a:off x="457200" y="1554480"/>
            <a:ext cx="109728" cy="868680"/>
          </a:xfrm>
          <a:prstGeom prst="rect">
            <a:avLst/>
          </a:prstGeom>
          <a:solidFill>
            <a:srgbClr val="4D9DE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731520" y="1554480"/>
            <a:ext cx="22860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D9DE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Synthetic traces</a:t>
            </a:r>
            <a:endParaRPr/>
          </a:p>
        </p:txBody>
      </p:sp>
      <p:sp>
        <p:nvSpPr>
          <p:cNvPr id="284" name="Google Shape;284;p20"/>
          <p:cNvSpPr txBox="1"/>
          <p:nvPr/>
        </p:nvSpPr>
        <p:spPr>
          <a:xfrm>
            <a:off x="3108960" y="1554480"/>
            <a:ext cx="4114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evaluation/run_eval.py</a:t>
            </a:r>
            <a:endParaRPr/>
          </a:p>
        </p:txBody>
      </p:sp>
      <p:sp>
        <p:nvSpPr>
          <p:cNvPr id="285" name="Google Shape;285;p20"/>
          <p:cNvSpPr txBox="1"/>
          <p:nvPr/>
        </p:nvSpPr>
        <p:spPr>
          <a:xfrm>
            <a:off x="7315200" y="1554480"/>
            <a:ext cx="4297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Controlled multi-turn conversations</a:t>
            </a:r>
            <a:endParaRPr/>
          </a:p>
        </p:txBody>
      </p:sp>
      <p:sp>
        <p:nvSpPr>
          <p:cNvPr id="286" name="Google Shape;286;p20"/>
          <p:cNvSpPr/>
          <p:nvPr/>
        </p:nvSpPr>
        <p:spPr>
          <a:xfrm>
            <a:off x="457288" y="3098250"/>
            <a:ext cx="11247000" cy="868800"/>
          </a:xfrm>
          <a:prstGeom prst="roundRect">
            <a:avLst>
              <a:gd fmla="val 16667" name="adj"/>
            </a:avLst>
          </a:prstGeom>
          <a:solidFill>
            <a:srgbClr val="1E2E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0"/>
          <p:cNvSpPr/>
          <p:nvPr/>
        </p:nvSpPr>
        <p:spPr>
          <a:xfrm>
            <a:off x="457225" y="3098250"/>
            <a:ext cx="109800" cy="868800"/>
          </a:xfrm>
          <a:prstGeom prst="rect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0"/>
          <p:cNvSpPr txBox="1"/>
          <p:nvPr/>
        </p:nvSpPr>
        <p:spPr>
          <a:xfrm>
            <a:off x="731520" y="3394050"/>
            <a:ext cx="228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4A8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Accuracy</a:t>
            </a:r>
            <a:endParaRPr/>
          </a:p>
        </p:txBody>
      </p:sp>
      <p:sp>
        <p:nvSpPr>
          <p:cNvPr id="289" name="Google Shape;289;p20"/>
          <p:cNvSpPr txBox="1"/>
          <p:nvPr/>
        </p:nvSpPr>
        <p:spPr>
          <a:xfrm>
            <a:off x="3108960" y="3394050"/>
            <a:ext cx="411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lm-evaluation-harness</a:t>
            </a:r>
            <a:endParaRPr/>
          </a:p>
        </p:txBody>
      </p:sp>
      <p:sp>
        <p:nvSpPr>
          <p:cNvPr id="290" name="Google Shape;290;p20"/>
          <p:cNvSpPr txBox="1"/>
          <p:nvPr/>
        </p:nvSpPr>
        <p:spPr>
          <a:xfrm>
            <a:off x="7315200" y="3394050"/>
            <a:ext cx="4297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Reasoning quality (MMLU · GSM8K · BBH)</a:t>
            </a:r>
            <a:endParaRPr/>
          </a:p>
        </p:txBody>
      </p:sp>
      <p:sp>
        <p:nvSpPr>
          <p:cNvPr id="291" name="Google Shape;291;p20"/>
          <p:cNvSpPr/>
          <p:nvPr/>
        </p:nvSpPr>
        <p:spPr>
          <a:xfrm>
            <a:off x="457250" y="4642150"/>
            <a:ext cx="11247000" cy="1188600"/>
          </a:xfrm>
          <a:prstGeom prst="roundRect">
            <a:avLst>
              <a:gd fmla="val 16667" name="adj"/>
            </a:avLst>
          </a:prstGeom>
          <a:solidFill>
            <a:srgbClr val="142E5C"/>
          </a:solidFill>
          <a:ln cap="flat" cmpd="sng" w="190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0"/>
          <p:cNvSpPr txBox="1"/>
          <p:nvPr/>
        </p:nvSpPr>
        <p:spPr>
          <a:xfrm>
            <a:off x="731570" y="4733590"/>
            <a:ext cx="1828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4B4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STACK</a:t>
            </a:r>
            <a:endParaRPr/>
          </a:p>
        </p:txBody>
      </p:sp>
      <p:sp>
        <p:nvSpPr>
          <p:cNvPr id="293" name="Google Shape;293;p20"/>
          <p:cNvSpPr txBox="1"/>
          <p:nvPr/>
        </p:nvSpPr>
        <p:spPr>
          <a:xfrm>
            <a:off x="731570" y="5099350"/>
            <a:ext cx="10698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Llama 3.1-8B (FP16)   ·   vLLM v0.6.4 (vendored, patched)   ·   NVIDIA L4 GPU (24 GB)   ·   GCP</a:t>
            </a:r>
            <a:endParaRPr/>
          </a:p>
        </p:txBody>
      </p:sp>
      <p:sp>
        <p:nvSpPr>
          <p:cNvPr id="294" name="Google Shape;294;p20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MoM · HPML Spring 2026  ·  github.com/al4744/MoM</a:t>
            </a:r>
            <a:endParaRPr/>
          </a:p>
        </p:txBody>
      </p:sp>
      <p:sp>
        <p:nvSpPr>
          <p:cNvPr id="295" name="Google Shape;295;p20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 / 13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               gsm8k     BBH (aggregate)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              strict     across 27 subtasks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              ──────    ─────────────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baseline              48.0%       63.33%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retention             48.0%       63.33%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              ──────    ─────────────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Δ vs baseline         +0.0pp      +0.0pp</a:t>
            </a:r>
            <a:endParaRPr/>
          </a:p>
        </p:txBody>
      </p:sp>
      <p:sp>
        <p:nvSpPr>
          <p:cNvPr id="301" name="Google Shape;301;p21"/>
          <p:cNvSpPr/>
          <p:nvPr/>
        </p:nvSpPr>
        <p:spPr>
          <a:xfrm>
            <a:off x="457200" y="502920"/>
            <a:ext cx="73152" cy="457200"/>
          </a:xfrm>
          <a:prstGeom prst="rect">
            <a:avLst/>
          </a:prstGeom>
          <a:solidFill>
            <a:srgbClr val="F4B4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640080" y="411480"/>
            <a:ext cx="11338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Results — Before vs After</a:t>
            </a:r>
            <a:endParaRPr/>
          </a:p>
        </p:txBody>
      </p:sp>
      <p:sp>
        <p:nvSpPr>
          <p:cNvPr id="303" name="Google Shape;303;p21"/>
          <p:cNvSpPr txBox="1"/>
          <p:nvPr/>
        </p:nvSpPr>
        <p:spPr>
          <a:xfrm>
            <a:off x="640080" y="960120"/>
            <a:ext cx="11338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4B4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Results &amp; Evaluation  </a:t>
            </a:r>
            <a:endParaRPr/>
          </a:p>
        </p:txBody>
      </p:sp>
      <p:sp>
        <p:nvSpPr>
          <p:cNvPr id="304" name="Google Shape;304;p21"/>
          <p:cNvSpPr/>
          <p:nvPr/>
        </p:nvSpPr>
        <p:spPr>
          <a:xfrm>
            <a:off x="457200" y="1294825"/>
            <a:ext cx="4946400" cy="24171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190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10.2× TTFT SPEEDUP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post-tool · L4 isolation microbench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843 ms → 82 ms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PC-only → retention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180 KV blocks pinned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180 reused · 0 evicted · 0 expired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TTL = 22.5 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1"/>
          <p:cNvSpPr/>
          <p:nvPr/>
        </p:nvSpPr>
        <p:spPr>
          <a:xfrm>
            <a:off x="457200" y="3944025"/>
            <a:ext cx="4946400" cy="22284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190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4× KV MEMORY REDUCTION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INT4 packed nibbles · per-block scale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9.4 GB → 4.7 GB (full cache)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2.0 GB → 0.5 GB (active working set)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TTFT  94.7 ms (INT4) ≈ 96.7 ms (INT8)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slowdown observed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6300650" y="1294825"/>
            <a:ext cx="4946400" cy="24171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190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100% Mechanism Survival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H100 · 60 fillers + 1 focal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Events: 7 pin · 7 reuse · 0 evict · 0 expire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Every focal post-tool turn hit cache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Zero pinned blocks evicted under load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1"/>
          <p:cNvSpPr txBox="1"/>
          <p:nvPr/>
        </p:nvSpPr>
        <p:spPr>
          <a:xfrm>
            <a:off x="457200" y="6400800"/>
            <a:ext cx="228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 / 13</a:t>
            </a:r>
            <a:endParaRPr/>
          </a:p>
        </p:txBody>
      </p:sp>
      <p:sp>
        <p:nvSpPr>
          <p:cNvPr id="309" name="Google Shape;309;p21"/>
          <p:cNvSpPr/>
          <p:nvPr/>
        </p:nvSpPr>
        <p:spPr>
          <a:xfrm>
            <a:off x="6347600" y="3870675"/>
            <a:ext cx="4852500" cy="2315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190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pp ACCURACY DELTA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GSM8K · BBH · n = 50 per subtask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baseline:    48.0% GSM8K   ·   63.3% BBH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retention:   48.0% GSM8K   ·   63.3% BBH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Reasoning capability preserved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(within 1σ noise floor: ±7 pp at n=50)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2"/>
          <p:cNvSpPr/>
          <p:nvPr/>
        </p:nvSpPr>
        <p:spPr>
          <a:xfrm>
            <a:off x="457200" y="502920"/>
            <a:ext cx="73152" cy="457200"/>
          </a:xfrm>
          <a:prstGeom prst="rect">
            <a:avLst/>
          </a:prstGeom>
          <a:solidFill>
            <a:srgbClr val="F4B4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2"/>
          <p:cNvSpPr txBox="1"/>
          <p:nvPr/>
        </p:nvSpPr>
        <p:spPr>
          <a:xfrm>
            <a:off x="640080" y="411480"/>
            <a:ext cx="11338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Live Demo  ·  Visualization</a:t>
            </a:r>
            <a:endParaRPr/>
          </a:p>
        </p:txBody>
      </p:sp>
      <p:sp>
        <p:nvSpPr>
          <p:cNvPr id="317" name="Google Shape;317;p22"/>
          <p:cNvSpPr txBox="1"/>
          <p:nvPr/>
        </p:nvSpPr>
        <p:spPr>
          <a:xfrm>
            <a:off x="640080" y="960120"/>
            <a:ext cx="11338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4B4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Demo  </a:t>
            </a:r>
            <a:endParaRPr/>
          </a:p>
        </p:txBody>
      </p:sp>
      <p:sp>
        <p:nvSpPr>
          <p:cNvPr id="318" name="Google Shape;318;p22"/>
          <p:cNvSpPr/>
          <p:nvPr/>
        </p:nvSpPr>
        <p:spPr>
          <a:xfrm>
            <a:off x="457200" y="1554480"/>
            <a:ext cx="11247120" cy="4572000"/>
          </a:xfrm>
          <a:prstGeom prst="roundRect">
            <a:avLst>
              <a:gd fmla="val 16667" name="adj"/>
            </a:avLst>
          </a:prstGeom>
          <a:solidFill>
            <a:srgbClr val="1E2E4E"/>
          </a:solidFill>
          <a:ln cap="flat" cmpd="sng" w="190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2"/>
          <p:cNvSpPr txBox="1"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4B4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  WandB live panel  /  events.jsonl trace  /  animated KV blocks  ]</a:t>
            </a:r>
            <a:endParaRPr/>
          </a:p>
        </p:txBody>
      </p:sp>
      <p:sp>
        <p:nvSpPr>
          <p:cNvPr id="320" name="Google Shape;320;p22"/>
          <p:cNvSpPr txBox="1"/>
          <p:nvPr/>
        </p:nvSpPr>
        <p:spPr>
          <a:xfrm>
            <a:off x="457200" y="62636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4B4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Topics to show:</a:t>
            </a:r>
            <a:endParaRPr/>
          </a:p>
        </p:txBody>
      </p:sp>
      <p:sp>
        <p:nvSpPr>
          <p:cNvPr id="321" name="Google Shape;321;p22"/>
          <p:cNvSpPr txBox="1"/>
          <p:nvPr/>
        </p:nvSpPr>
        <p:spPr>
          <a:xfrm>
            <a:off x="2286000" y="626364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WandB TTFT panel  ·  pin/reuse/expire/evict events  ·  50-turn KV animation  ·  profiler trace</a:t>
            </a:r>
            <a:endParaRPr/>
          </a:p>
        </p:txBody>
      </p:sp>
      <p:sp>
        <p:nvSpPr>
          <p:cNvPr id="322" name="Google Shape;322;p22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MoM · HPML Spring 2026  ·  github.com/al4744/MoM</a:t>
            </a:r>
            <a:endParaRPr/>
          </a:p>
        </p:txBody>
      </p:sp>
      <p:sp>
        <p:nvSpPr>
          <p:cNvPr id="323" name="Google Shape;323;p22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 / 13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3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0B1E3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3"/>
          <p:cNvSpPr/>
          <p:nvPr/>
        </p:nvSpPr>
        <p:spPr>
          <a:xfrm>
            <a:off x="457200" y="502920"/>
            <a:ext cx="73200" cy="457200"/>
          </a:xfrm>
          <a:prstGeom prst="rect">
            <a:avLst/>
          </a:prstGeom>
          <a:solidFill>
            <a:srgbClr val="F4B40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3"/>
          <p:cNvSpPr txBox="1"/>
          <p:nvPr/>
        </p:nvSpPr>
        <p:spPr>
          <a:xfrm>
            <a:off x="640080" y="411480"/>
            <a:ext cx="1133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Visualization — Before vs After</a:t>
            </a:r>
            <a:endParaRPr/>
          </a:p>
        </p:txBody>
      </p:sp>
      <p:sp>
        <p:nvSpPr>
          <p:cNvPr id="331" name="Google Shape;331;p23"/>
          <p:cNvSpPr txBox="1"/>
          <p:nvPr/>
        </p:nvSpPr>
        <p:spPr>
          <a:xfrm>
            <a:off x="640080" y="960120"/>
            <a:ext cx="11338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4B4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MoM does to a multi-turn agent timeline</a:t>
            </a:r>
            <a:endParaRPr/>
          </a:p>
        </p:txBody>
      </p:sp>
      <p:sp>
        <p:nvSpPr>
          <p:cNvPr id="332" name="Google Shape;332;p23"/>
          <p:cNvSpPr txBox="1"/>
          <p:nvPr/>
        </p:nvSpPr>
        <p:spPr>
          <a:xfrm>
            <a:off x="457200" y="1508760"/>
            <a:ext cx="11247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A43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WITHOUT  MoM   (vanilla vLLM)</a:t>
            </a:r>
            <a:endParaRPr/>
          </a:p>
        </p:txBody>
      </p:sp>
      <p:sp>
        <p:nvSpPr>
          <p:cNvPr id="333" name="Google Shape;333;p23"/>
          <p:cNvSpPr txBox="1"/>
          <p:nvPr/>
        </p:nvSpPr>
        <p:spPr>
          <a:xfrm>
            <a:off x="411480" y="2011680"/>
            <a:ext cx="731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Job 1</a:t>
            </a:r>
            <a:endParaRPr/>
          </a:p>
        </p:txBody>
      </p:sp>
      <p:sp>
        <p:nvSpPr>
          <p:cNvPr id="334" name="Google Shape;334;p23"/>
          <p:cNvSpPr/>
          <p:nvPr/>
        </p:nvSpPr>
        <p:spPr>
          <a:xfrm>
            <a:off x="1188720" y="2606040"/>
            <a:ext cx="10424100" cy="18300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3"/>
          <p:cNvSpPr/>
          <p:nvPr/>
        </p:nvSpPr>
        <p:spPr>
          <a:xfrm>
            <a:off x="1188720" y="2011680"/>
            <a:ext cx="1828800" cy="548700"/>
          </a:xfrm>
          <a:prstGeom prst="roundRect">
            <a:avLst>
              <a:gd fmla="val 16667" name="adj"/>
            </a:avLst>
          </a:prstGeom>
          <a:solidFill>
            <a:srgbClr val="4D9DE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3"/>
          <p:cNvSpPr txBox="1"/>
          <p:nvPr/>
        </p:nvSpPr>
        <p:spPr>
          <a:xfrm>
            <a:off x="1188720" y="2011680"/>
            <a:ext cx="1828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 Request</a:t>
            </a:r>
            <a:endParaRPr/>
          </a:p>
        </p:txBody>
      </p:sp>
      <p:sp>
        <p:nvSpPr>
          <p:cNvPr id="337" name="Google Shape;337;p23"/>
          <p:cNvSpPr/>
          <p:nvPr/>
        </p:nvSpPr>
        <p:spPr>
          <a:xfrm>
            <a:off x="3090672" y="2011680"/>
            <a:ext cx="822900" cy="548700"/>
          </a:xfrm>
          <a:prstGeom prst="roundRect">
            <a:avLst>
              <a:gd fmla="val 16667" name="adj"/>
            </a:avLst>
          </a:prstGeom>
          <a:solidFill>
            <a:srgbClr val="9CA3A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3"/>
          <p:cNvSpPr txBox="1"/>
          <p:nvPr/>
        </p:nvSpPr>
        <p:spPr>
          <a:xfrm>
            <a:off x="3090672" y="2011680"/>
            <a:ext cx="822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Tool</a:t>
            </a:r>
            <a:endParaRPr/>
          </a:p>
        </p:txBody>
      </p:sp>
      <p:sp>
        <p:nvSpPr>
          <p:cNvPr id="339" name="Google Shape;339;p23"/>
          <p:cNvSpPr/>
          <p:nvPr/>
        </p:nvSpPr>
        <p:spPr>
          <a:xfrm>
            <a:off x="3986784" y="2011680"/>
            <a:ext cx="1280100" cy="548700"/>
          </a:xfrm>
          <a:prstGeom prst="roundRect">
            <a:avLst>
              <a:gd fmla="val 16667" name="adj"/>
            </a:avLst>
          </a:prstGeom>
          <a:solidFill>
            <a:srgbClr val="EA433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3"/>
          <p:cNvSpPr txBox="1"/>
          <p:nvPr/>
        </p:nvSpPr>
        <p:spPr>
          <a:xfrm>
            <a:off x="3986784" y="2011680"/>
            <a:ext cx="1280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Cache Evicted ✗</a:t>
            </a:r>
            <a:endParaRPr/>
          </a:p>
        </p:txBody>
      </p:sp>
      <p:sp>
        <p:nvSpPr>
          <p:cNvPr id="341" name="Google Shape;341;p23"/>
          <p:cNvSpPr/>
          <p:nvPr/>
        </p:nvSpPr>
        <p:spPr>
          <a:xfrm>
            <a:off x="5340096" y="2011680"/>
            <a:ext cx="2377500" cy="548700"/>
          </a:xfrm>
          <a:prstGeom prst="roundRect">
            <a:avLst>
              <a:gd fmla="val 16667" name="adj"/>
            </a:avLst>
          </a:prstGeom>
          <a:solidFill>
            <a:srgbClr val="C1292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3"/>
          <p:cNvSpPr txBox="1"/>
          <p:nvPr/>
        </p:nvSpPr>
        <p:spPr>
          <a:xfrm>
            <a:off x="5340096" y="2011680"/>
            <a:ext cx="2377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Full Prefill Recompute</a:t>
            </a:r>
            <a:endParaRPr/>
          </a:p>
        </p:txBody>
      </p:sp>
      <p:sp>
        <p:nvSpPr>
          <p:cNvPr id="343" name="Google Shape;343;p23"/>
          <p:cNvSpPr/>
          <p:nvPr/>
        </p:nvSpPr>
        <p:spPr>
          <a:xfrm>
            <a:off x="7790688" y="2011680"/>
            <a:ext cx="1828800" cy="548700"/>
          </a:xfrm>
          <a:prstGeom prst="roundRect">
            <a:avLst>
              <a:gd fmla="val 16667" name="adj"/>
            </a:avLst>
          </a:prstGeom>
          <a:solidFill>
            <a:srgbClr val="4D9DE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3"/>
          <p:cNvSpPr txBox="1"/>
          <p:nvPr/>
        </p:nvSpPr>
        <p:spPr>
          <a:xfrm>
            <a:off x="7790688" y="2011680"/>
            <a:ext cx="1828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 Request</a:t>
            </a:r>
            <a:endParaRPr/>
          </a:p>
        </p:txBody>
      </p:sp>
      <p:sp>
        <p:nvSpPr>
          <p:cNvPr id="345" name="Google Shape;345;p23"/>
          <p:cNvSpPr/>
          <p:nvPr/>
        </p:nvSpPr>
        <p:spPr>
          <a:xfrm>
            <a:off x="3986784" y="2651760"/>
            <a:ext cx="3730800" cy="457200"/>
          </a:xfrm>
          <a:prstGeom prst="leftBrace">
            <a:avLst>
              <a:gd fmla="val 8333" name="adj1"/>
              <a:gd fmla="val 50000" name="adj2"/>
            </a:avLst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3"/>
          <p:cNvSpPr txBox="1"/>
          <p:nvPr/>
        </p:nvSpPr>
        <p:spPr>
          <a:xfrm>
            <a:off x="3986784" y="3154680"/>
            <a:ext cx="373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A43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≈ 750 ms wasted</a:t>
            </a:r>
            <a:endParaRPr/>
          </a:p>
        </p:txBody>
      </p:sp>
      <p:sp>
        <p:nvSpPr>
          <p:cNvPr id="347" name="Google Shape;347;p23"/>
          <p:cNvSpPr txBox="1"/>
          <p:nvPr/>
        </p:nvSpPr>
        <p:spPr>
          <a:xfrm>
            <a:off x="457200" y="4069080"/>
            <a:ext cx="11247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4A8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  MoM   (retention pin  +  INT4 quantization)</a:t>
            </a:r>
            <a:endParaRPr/>
          </a:p>
        </p:txBody>
      </p:sp>
      <p:sp>
        <p:nvSpPr>
          <p:cNvPr id="348" name="Google Shape;348;p23"/>
          <p:cNvSpPr txBox="1"/>
          <p:nvPr/>
        </p:nvSpPr>
        <p:spPr>
          <a:xfrm>
            <a:off x="411480" y="4572000"/>
            <a:ext cx="731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Job 1</a:t>
            </a:r>
            <a:endParaRPr/>
          </a:p>
        </p:txBody>
      </p:sp>
      <p:sp>
        <p:nvSpPr>
          <p:cNvPr id="349" name="Google Shape;349;p23"/>
          <p:cNvSpPr/>
          <p:nvPr/>
        </p:nvSpPr>
        <p:spPr>
          <a:xfrm>
            <a:off x="1188720" y="5166360"/>
            <a:ext cx="10424100" cy="18300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3"/>
          <p:cNvSpPr/>
          <p:nvPr/>
        </p:nvSpPr>
        <p:spPr>
          <a:xfrm>
            <a:off x="1188720" y="4572000"/>
            <a:ext cx="1828800" cy="548700"/>
          </a:xfrm>
          <a:prstGeom prst="roundRect">
            <a:avLst>
              <a:gd fmla="val 16667" name="adj"/>
            </a:avLst>
          </a:prstGeom>
          <a:solidFill>
            <a:srgbClr val="4D9DE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3"/>
          <p:cNvSpPr txBox="1"/>
          <p:nvPr/>
        </p:nvSpPr>
        <p:spPr>
          <a:xfrm>
            <a:off x="1188720" y="4572000"/>
            <a:ext cx="1828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 Request</a:t>
            </a:r>
            <a:endParaRPr/>
          </a:p>
        </p:txBody>
      </p:sp>
      <p:sp>
        <p:nvSpPr>
          <p:cNvPr id="352" name="Google Shape;352;p23"/>
          <p:cNvSpPr/>
          <p:nvPr/>
        </p:nvSpPr>
        <p:spPr>
          <a:xfrm>
            <a:off x="3090672" y="4572000"/>
            <a:ext cx="822900" cy="548700"/>
          </a:xfrm>
          <a:prstGeom prst="roundRect">
            <a:avLst>
              <a:gd fmla="val 16667" name="adj"/>
            </a:avLst>
          </a:prstGeom>
          <a:solidFill>
            <a:srgbClr val="9CA3A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3"/>
          <p:cNvSpPr txBox="1"/>
          <p:nvPr/>
        </p:nvSpPr>
        <p:spPr>
          <a:xfrm>
            <a:off x="3090672" y="4572000"/>
            <a:ext cx="822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Tool</a:t>
            </a:r>
            <a:endParaRPr/>
          </a:p>
        </p:txBody>
      </p:sp>
      <p:sp>
        <p:nvSpPr>
          <p:cNvPr id="354" name="Google Shape;354;p23"/>
          <p:cNvSpPr/>
          <p:nvPr/>
        </p:nvSpPr>
        <p:spPr>
          <a:xfrm>
            <a:off x="3986784" y="4572000"/>
            <a:ext cx="1280100" cy="548700"/>
          </a:xfrm>
          <a:prstGeom prst="roundRect">
            <a:avLst>
              <a:gd fmla="val 16667" name="adj"/>
            </a:avLst>
          </a:prstGeom>
          <a:solidFill>
            <a:srgbClr val="34A85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3"/>
          <p:cNvSpPr txBox="1"/>
          <p:nvPr/>
        </p:nvSpPr>
        <p:spPr>
          <a:xfrm>
            <a:off x="3986784" y="4572000"/>
            <a:ext cx="1280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KV Pinned ✓ (INT4)</a:t>
            </a:r>
            <a:endParaRPr/>
          </a:p>
        </p:txBody>
      </p:sp>
      <p:sp>
        <p:nvSpPr>
          <p:cNvPr id="356" name="Google Shape;356;p23"/>
          <p:cNvSpPr/>
          <p:nvPr/>
        </p:nvSpPr>
        <p:spPr>
          <a:xfrm>
            <a:off x="5340096" y="4572000"/>
            <a:ext cx="1828800" cy="548700"/>
          </a:xfrm>
          <a:prstGeom prst="roundRect">
            <a:avLst>
              <a:gd fmla="val 16667" name="adj"/>
            </a:avLst>
          </a:prstGeom>
          <a:solidFill>
            <a:srgbClr val="4D9DE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3"/>
          <p:cNvSpPr txBox="1"/>
          <p:nvPr/>
        </p:nvSpPr>
        <p:spPr>
          <a:xfrm>
            <a:off x="5340096" y="4572000"/>
            <a:ext cx="1828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 Request</a:t>
            </a:r>
            <a:endParaRPr/>
          </a:p>
        </p:txBody>
      </p:sp>
      <p:sp>
        <p:nvSpPr>
          <p:cNvPr id="358" name="Google Shape;358;p23"/>
          <p:cNvSpPr/>
          <p:nvPr/>
        </p:nvSpPr>
        <p:spPr>
          <a:xfrm>
            <a:off x="7242048" y="4617720"/>
            <a:ext cx="2377500" cy="4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3"/>
          <p:cNvSpPr txBox="1"/>
          <p:nvPr/>
        </p:nvSpPr>
        <p:spPr>
          <a:xfrm>
            <a:off x="7242123" y="4741195"/>
            <a:ext cx="2377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B1E3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10× faster TTFT</a:t>
            </a:r>
            <a:endParaRPr/>
          </a:p>
        </p:txBody>
      </p:sp>
      <p:sp>
        <p:nvSpPr>
          <p:cNvPr id="360" name="Google Shape;360;p23"/>
          <p:cNvSpPr/>
          <p:nvPr/>
        </p:nvSpPr>
        <p:spPr>
          <a:xfrm>
            <a:off x="457200" y="6035040"/>
            <a:ext cx="274200" cy="274200"/>
          </a:xfrm>
          <a:prstGeom prst="roundRect">
            <a:avLst>
              <a:gd fmla="val 16667" name="adj"/>
            </a:avLst>
          </a:prstGeom>
          <a:solidFill>
            <a:srgbClr val="4D9DE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3"/>
          <p:cNvSpPr txBox="1"/>
          <p:nvPr/>
        </p:nvSpPr>
        <p:spPr>
          <a:xfrm>
            <a:off x="822960" y="6016752"/>
            <a:ext cx="2286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 Request</a:t>
            </a:r>
            <a:endParaRPr/>
          </a:p>
        </p:txBody>
      </p:sp>
      <p:sp>
        <p:nvSpPr>
          <p:cNvPr id="362" name="Google Shape;362;p23"/>
          <p:cNvSpPr/>
          <p:nvPr/>
        </p:nvSpPr>
        <p:spPr>
          <a:xfrm>
            <a:off x="3200400" y="6035040"/>
            <a:ext cx="274200" cy="274200"/>
          </a:xfrm>
          <a:prstGeom prst="roundRect">
            <a:avLst>
              <a:gd fmla="val 16667" name="adj"/>
            </a:avLst>
          </a:prstGeom>
          <a:solidFill>
            <a:srgbClr val="9CA3A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3"/>
          <p:cNvSpPr txBox="1"/>
          <p:nvPr/>
        </p:nvSpPr>
        <p:spPr>
          <a:xfrm>
            <a:off x="3566160" y="6016752"/>
            <a:ext cx="2286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Tool</a:t>
            </a:r>
            <a:endParaRPr/>
          </a:p>
        </p:txBody>
      </p:sp>
      <p:sp>
        <p:nvSpPr>
          <p:cNvPr id="364" name="Google Shape;364;p23"/>
          <p:cNvSpPr/>
          <p:nvPr/>
        </p:nvSpPr>
        <p:spPr>
          <a:xfrm>
            <a:off x="5943600" y="6035040"/>
            <a:ext cx="274200" cy="274200"/>
          </a:xfrm>
          <a:prstGeom prst="roundRect">
            <a:avLst>
              <a:gd fmla="val 16667" name="adj"/>
            </a:avLst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3"/>
          <p:cNvSpPr txBox="1"/>
          <p:nvPr/>
        </p:nvSpPr>
        <p:spPr>
          <a:xfrm>
            <a:off x="6309360" y="6016752"/>
            <a:ext cx="2286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Wasted (no MoM)</a:t>
            </a:r>
            <a:endParaRPr/>
          </a:p>
        </p:txBody>
      </p:sp>
      <p:sp>
        <p:nvSpPr>
          <p:cNvPr id="366" name="Google Shape;366;p23"/>
          <p:cNvSpPr/>
          <p:nvPr/>
        </p:nvSpPr>
        <p:spPr>
          <a:xfrm>
            <a:off x="8686800" y="6035040"/>
            <a:ext cx="274200" cy="274200"/>
          </a:xfrm>
          <a:prstGeom prst="roundRect">
            <a:avLst>
              <a:gd fmla="val 16667" name="adj"/>
            </a:avLst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3"/>
          <p:cNvSpPr txBox="1"/>
          <p:nvPr/>
        </p:nvSpPr>
        <p:spPr>
          <a:xfrm>
            <a:off x="9052560" y="6016752"/>
            <a:ext cx="2286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KV Pinned (with MoM)</a:t>
            </a:r>
            <a:endParaRPr/>
          </a:p>
        </p:txBody>
      </p:sp>
      <p:sp>
        <p:nvSpPr>
          <p:cNvPr id="368" name="Google Shape;368;p23"/>
          <p:cNvSpPr txBox="1"/>
          <p:nvPr/>
        </p:nvSpPr>
        <p:spPr>
          <a:xfrm>
            <a:off x="457200" y="6446520"/>
            <a:ext cx="10058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MoM · HPML Spring 2026  ·  github.com/al4744/MoM</a:t>
            </a:r>
            <a:endParaRPr/>
          </a:p>
        </p:txBody>
      </p:sp>
      <p:sp>
        <p:nvSpPr>
          <p:cNvPr id="369" name="Google Shape;369;p23"/>
          <p:cNvSpPr txBox="1"/>
          <p:nvPr/>
        </p:nvSpPr>
        <p:spPr>
          <a:xfrm>
            <a:off x="11247120" y="6446520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 / 13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4"/>
          <p:cNvSpPr/>
          <p:nvPr/>
        </p:nvSpPr>
        <p:spPr>
          <a:xfrm>
            <a:off x="457200" y="502920"/>
            <a:ext cx="73152" cy="457200"/>
          </a:xfrm>
          <a:prstGeom prst="rect">
            <a:avLst/>
          </a:prstGeom>
          <a:solidFill>
            <a:srgbClr val="F4B4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4"/>
          <p:cNvSpPr txBox="1"/>
          <p:nvPr/>
        </p:nvSpPr>
        <p:spPr>
          <a:xfrm>
            <a:off x="640080" y="411480"/>
            <a:ext cx="11338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surprised us  ·  what didn't work</a:t>
            </a:r>
            <a:endParaRPr/>
          </a:p>
        </p:txBody>
      </p:sp>
      <p:sp>
        <p:nvSpPr>
          <p:cNvPr id="377" name="Google Shape;377;p24"/>
          <p:cNvSpPr txBox="1"/>
          <p:nvPr/>
        </p:nvSpPr>
        <p:spPr>
          <a:xfrm>
            <a:off x="640080" y="960120"/>
            <a:ext cx="11338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4B4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Lessons Learned</a:t>
            </a:r>
            <a:endParaRPr/>
          </a:p>
        </p:txBody>
      </p:sp>
      <p:sp>
        <p:nvSpPr>
          <p:cNvPr id="378" name="Google Shape;378;p24"/>
          <p:cNvSpPr/>
          <p:nvPr/>
        </p:nvSpPr>
        <p:spPr>
          <a:xfrm>
            <a:off x="457200" y="1554480"/>
            <a:ext cx="5394960" cy="4114800"/>
          </a:xfrm>
          <a:prstGeom prst="roundRect">
            <a:avLst>
              <a:gd fmla="val 16667" name="adj"/>
            </a:avLst>
          </a:prstGeom>
          <a:solidFill>
            <a:srgbClr val="1E2E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4"/>
          <p:cNvSpPr/>
          <p:nvPr/>
        </p:nvSpPr>
        <p:spPr>
          <a:xfrm>
            <a:off x="457200" y="1554480"/>
            <a:ext cx="5394900" cy="73200"/>
          </a:xfrm>
          <a:prstGeom prst="rect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4"/>
          <p:cNvSpPr txBox="1"/>
          <p:nvPr/>
        </p:nvSpPr>
        <p:spPr>
          <a:xfrm>
            <a:off x="731520" y="173736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4A8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SURPRISED US</a:t>
            </a:r>
            <a:endParaRPr/>
          </a:p>
        </p:txBody>
      </p:sp>
      <p:sp>
        <p:nvSpPr>
          <p:cNvPr id="381" name="Google Shape;381;p24"/>
          <p:cNvSpPr txBox="1"/>
          <p:nvPr/>
        </p:nvSpPr>
        <p:spPr>
          <a:xfrm>
            <a:off x="731520" y="2331720"/>
            <a:ext cx="48462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Cache pinning  →  8–10× TTFT improvement in </a:t>
            </a:r>
            <a:r>
              <a:rPr lang="en-US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isolation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More than predicted in the right regime.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INT4 quantization  ≈  zero latency cost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Bottleneck was always KV memory, not arithmetic.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Stock vLLM has strict argument validators —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try/except + signature inspection saved hours.</a:t>
            </a:r>
            <a:endParaRPr b="0" i="0" sz="1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Mechanism works at scale; per-request TTFT doesn't show it H100 60-agent: 100% pin/reuse survival (events log) but TTFT diluted across 60 concurrent batched sequences → retention's value is throughput, not latency, at scale.</a:t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2" name="Google Shape;382;p24"/>
          <p:cNvSpPr/>
          <p:nvPr/>
        </p:nvSpPr>
        <p:spPr>
          <a:xfrm>
            <a:off x="6309360" y="1554480"/>
            <a:ext cx="5394960" cy="4114800"/>
          </a:xfrm>
          <a:prstGeom prst="roundRect">
            <a:avLst>
              <a:gd fmla="val 16667" name="adj"/>
            </a:avLst>
          </a:prstGeom>
          <a:solidFill>
            <a:srgbClr val="1E2E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4"/>
          <p:cNvSpPr/>
          <p:nvPr/>
        </p:nvSpPr>
        <p:spPr>
          <a:xfrm>
            <a:off x="6309360" y="1554480"/>
            <a:ext cx="5394900" cy="73200"/>
          </a:xfrm>
          <a:prstGeom prst="rect">
            <a:avLst/>
          </a:prstGeom>
          <a:solidFill>
            <a:srgbClr val="EA43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4"/>
          <p:cNvSpPr txBox="1"/>
          <p:nvPr/>
        </p:nvSpPr>
        <p:spPr>
          <a:xfrm>
            <a:off x="6583680" y="173736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A43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DIDN'T WORK</a:t>
            </a:r>
            <a:endParaRPr/>
          </a:p>
        </p:txBody>
      </p:sp>
      <p:sp>
        <p:nvSpPr>
          <p:cNvPr id="385" name="Google Shape;385;p24"/>
          <p:cNvSpPr txBox="1"/>
          <p:nvPr/>
        </p:nvSpPr>
        <p:spPr>
          <a:xfrm>
            <a:off x="6583680" y="2331720"/>
            <a:ext cx="48462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vLLM's EngineArgs rejected patched kwargs deep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in the call chain — required retry pattern.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L4 ran out of headroom for full concurrent battery —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needed Lambda H100 to finish.</a:t>
            </a:r>
            <a:endParaRPr b="0" i="0" sz="1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Full compilation of the vLLM code took way longer than expected so we had to pivot to a pip install + file replace for easy replication</a:t>
            </a:r>
            <a:endParaRPr/>
          </a:p>
        </p:txBody>
      </p:sp>
      <p:sp>
        <p:nvSpPr>
          <p:cNvPr id="386" name="Google Shape;386;p24"/>
          <p:cNvSpPr/>
          <p:nvPr/>
        </p:nvSpPr>
        <p:spPr>
          <a:xfrm>
            <a:off x="457200" y="5852160"/>
            <a:ext cx="11247120" cy="457200"/>
          </a:xfrm>
          <a:prstGeom prst="roundRect">
            <a:avLst>
              <a:gd fmla="val 16667" name="adj"/>
            </a:avLst>
          </a:prstGeom>
          <a:solidFill>
            <a:srgbClr val="F4B4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4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B1E3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Biggest takeaway: three subtle conditions had to align before retention measurably won.</a:t>
            </a:r>
            <a:endParaRPr/>
          </a:p>
        </p:txBody>
      </p:sp>
      <p:sp>
        <p:nvSpPr>
          <p:cNvPr id="388" name="Google Shape;388;p24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MoM · HPML Spring 2026  ·  github.com/al4744/MoM</a:t>
            </a:r>
            <a:endParaRPr/>
          </a:p>
        </p:txBody>
      </p:sp>
      <p:sp>
        <p:nvSpPr>
          <p:cNvPr id="389" name="Google Shape;389;p24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 / 13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5"/>
          <p:cNvSpPr/>
          <p:nvPr/>
        </p:nvSpPr>
        <p:spPr>
          <a:xfrm>
            <a:off x="457200" y="502920"/>
            <a:ext cx="73152" cy="457200"/>
          </a:xfrm>
          <a:prstGeom prst="rect">
            <a:avLst/>
          </a:prstGeom>
          <a:solidFill>
            <a:srgbClr val="F4B4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5"/>
          <p:cNvSpPr txBox="1"/>
          <p:nvPr/>
        </p:nvSpPr>
        <p:spPr>
          <a:xfrm>
            <a:off x="640080" y="411480"/>
            <a:ext cx="11338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this goes next</a:t>
            </a:r>
            <a:endParaRPr/>
          </a:p>
        </p:txBody>
      </p:sp>
      <p:sp>
        <p:nvSpPr>
          <p:cNvPr id="397" name="Google Shape;397;p25"/>
          <p:cNvSpPr txBox="1"/>
          <p:nvPr/>
        </p:nvSpPr>
        <p:spPr>
          <a:xfrm>
            <a:off x="640080" y="960120"/>
            <a:ext cx="11338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4B4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Next Steps</a:t>
            </a:r>
            <a:endParaRPr/>
          </a:p>
        </p:txBody>
      </p:sp>
      <p:sp>
        <p:nvSpPr>
          <p:cNvPr id="398" name="Google Shape;398;p25"/>
          <p:cNvSpPr/>
          <p:nvPr/>
        </p:nvSpPr>
        <p:spPr>
          <a:xfrm>
            <a:off x="457200" y="1554480"/>
            <a:ext cx="3657600" cy="4114800"/>
          </a:xfrm>
          <a:prstGeom prst="roundRect">
            <a:avLst>
              <a:gd fmla="val 16667" name="adj"/>
            </a:avLst>
          </a:prstGeom>
          <a:solidFill>
            <a:srgbClr val="1E2E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5"/>
          <p:cNvSpPr/>
          <p:nvPr/>
        </p:nvSpPr>
        <p:spPr>
          <a:xfrm>
            <a:off x="457200" y="1554480"/>
            <a:ext cx="3657600" cy="73152"/>
          </a:xfrm>
          <a:prstGeom prst="rect">
            <a:avLst/>
          </a:prstGeom>
          <a:solidFill>
            <a:srgbClr val="4D9DE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5"/>
          <p:cNvSpPr txBox="1"/>
          <p:nvPr/>
        </p:nvSpPr>
        <p:spPr>
          <a:xfrm>
            <a:off x="731520" y="178308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D9DE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RESEARCH</a:t>
            </a:r>
            <a:endParaRPr/>
          </a:p>
        </p:txBody>
      </p:sp>
      <p:sp>
        <p:nvSpPr>
          <p:cNvPr id="401" name="Google Shape;401;p25"/>
          <p:cNvSpPr txBox="1"/>
          <p:nvPr/>
        </p:nvSpPr>
        <p:spPr>
          <a:xfrm>
            <a:off x="731520" y="2468880"/>
            <a:ext cx="31089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ML-trained latency predictor (vs. EMA)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Hierarchical experts (MoM extension)</a:t>
            </a:r>
            <a:endParaRPr/>
          </a:p>
        </p:txBody>
      </p:sp>
      <p:sp>
        <p:nvSpPr>
          <p:cNvPr id="402" name="Google Shape;402;p25"/>
          <p:cNvSpPr/>
          <p:nvPr/>
        </p:nvSpPr>
        <p:spPr>
          <a:xfrm>
            <a:off x="4297680" y="1554480"/>
            <a:ext cx="3657600" cy="4114800"/>
          </a:xfrm>
          <a:prstGeom prst="roundRect">
            <a:avLst>
              <a:gd fmla="val 16667" name="adj"/>
            </a:avLst>
          </a:prstGeom>
          <a:solidFill>
            <a:srgbClr val="1E2E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5"/>
          <p:cNvSpPr/>
          <p:nvPr/>
        </p:nvSpPr>
        <p:spPr>
          <a:xfrm>
            <a:off x="4297680" y="1554480"/>
            <a:ext cx="3657600" cy="73152"/>
          </a:xfrm>
          <a:prstGeom prst="rect">
            <a:avLst/>
          </a:prstGeom>
          <a:solidFill>
            <a:srgbClr val="F4B4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5"/>
          <p:cNvSpPr txBox="1"/>
          <p:nvPr/>
        </p:nvSpPr>
        <p:spPr>
          <a:xfrm>
            <a:off x="4572000" y="178308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4B4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ENGINEERING</a:t>
            </a:r>
            <a:endParaRPr/>
          </a:p>
        </p:txBody>
      </p:sp>
      <p:sp>
        <p:nvSpPr>
          <p:cNvPr id="405" name="Google Shape;405;p25"/>
          <p:cNvSpPr txBox="1"/>
          <p:nvPr/>
        </p:nvSpPr>
        <p:spPr>
          <a:xfrm>
            <a:off x="4572000" y="2468880"/>
            <a:ext cx="3108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Native AgentBench / ToolBench plugin</a:t>
            </a:r>
            <a:endParaRPr b="0" i="0" sz="1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Offload to CPU for medium workloads where data movement cost &lt; full recomputation</a:t>
            </a:r>
            <a:endParaRPr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6" name="Google Shape;406;p25"/>
          <p:cNvSpPr/>
          <p:nvPr/>
        </p:nvSpPr>
        <p:spPr>
          <a:xfrm>
            <a:off x="8138160" y="1554480"/>
            <a:ext cx="3657600" cy="4114800"/>
          </a:xfrm>
          <a:prstGeom prst="roundRect">
            <a:avLst>
              <a:gd fmla="val 16667" name="adj"/>
            </a:avLst>
          </a:prstGeom>
          <a:solidFill>
            <a:srgbClr val="1E2E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5"/>
          <p:cNvSpPr/>
          <p:nvPr/>
        </p:nvSpPr>
        <p:spPr>
          <a:xfrm>
            <a:off x="8138160" y="1554480"/>
            <a:ext cx="3657600" cy="73152"/>
          </a:xfrm>
          <a:prstGeom prst="rect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5"/>
          <p:cNvSpPr txBox="1"/>
          <p:nvPr/>
        </p:nvSpPr>
        <p:spPr>
          <a:xfrm>
            <a:off x="8412480" y="178308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4A8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PRODUCTION</a:t>
            </a:r>
            <a:endParaRPr/>
          </a:p>
        </p:txBody>
      </p:sp>
      <p:sp>
        <p:nvSpPr>
          <p:cNvPr id="409" name="Google Shape;409;p25"/>
          <p:cNvSpPr txBox="1"/>
          <p:nvPr/>
        </p:nvSpPr>
        <p:spPr>
          <a:xfrm>
            <a:off x="8412480" y="2468880"/>
            <a:ext cx="31089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Upstream patches to vllm-project/vllm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LMCache integration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5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MoM · HPML Spring 2026  ·  github.com/al4744/MoM</a:t>
            </a:r>
            <a:endParaRPr/>
          </a:p>
        </p:txBody>
      </p:sp>
      <p:sp>
        <p:nvSpPr>
          <p:cNvPr id="411" name="Google Shape;411;p25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 / 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6"/>
          <p:cNvSpPr/>
          <p:nvPr/>
        </p:nvSpPr>
        <p:spPr>
          <a:xfrm>
            <a:off x="457200" y="502920"/>
            <a:ext cx="73152" cy="457200"/>
          </a:xfrm>
          <a:prstGeom prst="rect">
            <a:avLst/>
          </a:prstGeom>
          <a:solidFill>
            <a:srgbClr val="F4B4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6"/>
          <p:cNvSpPr txBox="1"/>
          <p:nvPr/>
        </p:nvSpPr>
        <p:spPr>
          <a:xfrm>
            <a:off x="640080" y="411480"/>
            <a:ext cx="11338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Who built what</a:t>
            </a:r>
            <a:endParaRPr/>
          </a:p>
        </p:txBody>
      </p:sp>
      <p:sp>
        <p:nvSpPr>
          <p:cNvPr id="419" name="Google Shape;419;p26"/>
          <p:cNvSpPr txBox="1"/>
          <p:nvPr/>
        </p:nvSpPr>
        <p:spPr>
          <a:xfrm>
            <a:off x="640080" y="960120"/>
            <a:ext cx="11338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4B4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Teamwork</a:t>
            </a:r>
            <a:endParaRPr/>
          </a:p>
        </p:txBody>
      </p:sp>
      <p:sp>
        <p:nvSpPr>
          <p:cNvPr id="420" name="Google Shape;420;p26"/>
          <p:cNvSpPr/>
          <p:nvPr/>
        </p:nvSpPr>
        <p:spPr>
          <a:xfrm>
            <a:off x="365760" y="1554480"/>
            <a:ext cx="2788920" cy="3931920"/>
          </a:xfrm>
          <a:prstGeom prst="roundRect">
            <a:avLst>
              <a:gd fmla="val 16667" name="adj"/>
            </a:avLst>
          </a:prstGeom>
          <a:solidFill>
            <a:srgbClr val="1E2E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6"/>
          <p:cNvSpPr/>
          <p:nvPr/>
        </p:nvSpPr>
        <p:spPr>
          <a:xfrm>
            <a:off x="365760" y="1554480"/>
            <a:ext cx="2788920" cy="73152"/>
          </a:xfrm>
          <a:prstGeom prst="rect">
            <a:avLst/>
          </a:prstGeom>
          <a:solidFill>
            <a:srgbClr val="4D9DE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6"/>
          <p:cNvSpPr txBox="1"/>
          <p:nvPr/>
        </p:nvSpPr>
        <p:spPr>
          <a:xfrm>
            <a:off x="640080" y="178308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Daksh</a:t>
            </a:r>
            <a:endParaRPr/>
          </a:p>
        </p:txBody>
      </p:sp>
      <p:sp>
        <p:nvSpPr>
          <p:cNvPr id="423" name="Google Shape;423;p26"/>
          <p:cNvSpPr txBox="1"/>
          <p:nvPr/>
        </p:nvSpPr>
        <p:spPr>
          <a:xfrm>
            <a:off x="640080" y="242316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D9DE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Workstream A</a:t>
            </a:r>
            <a:endParaRPr/>
          </a:p>
        </p:txBody>
      </p:sp>
      <p:sp>
        <p:nvSpPr>
          <p:cNvPr id="424" name="Google Shape;424;p26"/>
          <p:cNvSpPr txBox="1"/>
          <p:nvPr/>
        </p:nvSpPr>
        <p:spPr>
          <a:xfrm>
            <a:off x="640080" y="278892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4B4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KV Retention</a:t>
            </a:r>
            <a:endParaRPr/>
          </a:p>
        </p:txBody>
      </p:sp>
      <p:sp>
        <p:nvSpPr>
          <p:cNvPr id="425" name="Google Shape;425;p26"/>
          <p:cNvSpPr txBox="1"/>
          <p:nvPr/>
        </p:nvSpPr>
        <p:spPr>
          <a:xfrm>
            <a:off x="640080" y="3474720"/>
            <a:ext cx="22402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Pin Manager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TTL EMA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Scheduler patches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Microbenchmark</a:t>
            </a:r>
            <a:endParaRPr/>
          </a:p>
        </p:txBody>
      </p:sp>
      <p:sp>
        <p:nvSpPr>
          <p:cNvPr id="426" name="Google Shape;426;p26"/>
          <p:cNvSpPr/>
          <p:nvPr/>
        </p:nvSpPr>
        <p:spPr>
          <a:xfrm>
            <a:off x="3291840" y="1554480"/>
            <a:ext cx="2788920" cy="3931920"/>
          </a:xfrm>
          <a:prstGeom prst="roundRect">
            <a:avLst>
              <a:gd fmla="val 16667" name="adj"/>
            </a:avLst>
          </a:prstGeom>
          <a:solidFill>
            <a:srgbClr val="1E2E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6"/>
          <p:cNvSpPr/>
          <p:nvPr/>
        </p:nvSpPr>
        <p:spPr>
          <a:xfrm>
            <a:off x="3291840" y="1554480"/>
            <a:ext cx="2788920" cy="73152"/>
          </a:xfrm>
          <a:prstGeom prst="rect">
            <a:avLst/>
          </a:prstGeom>
          <a:solidFill>
            <a:srgbClr val="F4B4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6"/>
          <p:cNvSpPr txBox="1"/>
          <p:nvPr/>
        </p:nvSpPr>
        <p:spPr>
          <a:xfrm>
            <a:off x="3566160" y="1783080"/>
            <a:ext cx="22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Vatsalam</a:t>
            </a:r>
            <a:endParaRPr/>
          </a:p>
        </p:txBody>
      </p:sp>
      <p:sp>
        <p:nvSpPr>
          <p:cNvPr id="429" name="Google Shape;429;p26"/>
          <p:cNvSpPr txBox="1"/>
          <p:nvPr/>
        </p:nvSpPr>
        <p:spPr>
          <a:xfrm>
            <a:off x="3566160" y="242316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4B4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Workstream B</a:t>
            </a:r>
            <a:endParaRPr/>
          </a:p>
        </p:txBody>
      </p:sp>
      <p:sp>
        <p:nvSpPr>
          <p:cNvPr id="430" name="Google Shape;430;p26"/>
          <p:cNvSpPr txBox="1"/>
          <p:nvPr/>
        </p:nvSpPr>
        <p:spPr>
          <a:xfrm>
            <a:off x="3566160" y="278892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4B4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KV Quantization</a:t>
            </a:r>
            <a:endParaRPr/>
          </a:p>
        </p:txBody>
      </p:sp>
      <p:sp>
        <p:nvSpPr>
          <p:cNvPr id="431" name="Google Shape;431;p26"/>
          <p:cNvSpPr txBox="1"/>
          <p:nvPr/>
        </p:nvSpPr>
        <p:spPr>
          <a:xfrm>
            <a:off x="3566160" y="3474720"/>
            <a:ext cx="22402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INT8 / INT4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vLLM cache hooks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Quant configs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Compression metrics</a:t>
            </a:r>
            <a:endParaRPr/>
          </a:p>
        </p:txBody>
      </p:sp>
      <p:sp>
        <p:nvSpPr>
          <p:cNvPr id="432" name="Google Shape;432;p26"/>
          <p:cNvSpPr/>
          <p:nvPr/>
        </p:nvSpPr>
        <p:spPr>
          <a:xfrm>
            <a:off x="6217920" y="1554480"/>
            <a:ext cx="2788920" cy="3931920"/>
          </a:xfrm>
          <a:prstGeom prst="roundRect">
            <a:avLst>
              <a:gd fmla="val 16667" name="adj"/>
            </a:avLst>
          </a:prstGeom>
          <a:solidFill>
            <a:srgbClr val="1E2E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6"/>
          <p:cNvSpPr/>
          <p:nvPr/>
        </p:nvSpPr>
        <p:spPr>
          <a:xfrm>
            <a:off x="6217920" y="1554480"/>
            <a:ext cx="2788920" cy="73152"/>
          </a:xfrm>
          <a:prstGeom prst="rect">
            <a:avLst/>
          </a:prstGeom>
          <a:solidFill>
            <a:srgbClr val="34A85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6"/>
          <p:cNvSpPr txBox="1"/>
          <p:nvPr/>
        </p:nvSpPr>
        <p:spPr>
          <a:xfrm>
            <a:off x="6492240" y="178308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Andrew</a:t>
            </a:r>
            <a:endParaRPr/>
          </a:p>
        </p:txBody>
      </p:sp>
      <p:sp>
        <p:nvSpPr>
          <p:cNvPr id="435" name="Google Shape;435;p26"/>
          <p:cNvSpPr txBox="1"/>
          <p:nvPr/>
        </p:nvSpPr>
        <p:spPr>
          <a:xfrm>
            <a:off x="6492240" y="242316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4A8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Workstream C</a:t>
            </a:r>
            <a:endParaRPr/>
          </a:p>
        </p:txBody>
      </p:sp>
      <p:sp>
        <p:nvSpPr>
          <p:cNvPr id="436" name="Google Shape;436;p26"/>
          <p:cNvSpPr txBox="1"/>
          <p:nvPr/>
        </p:nvSpPr>
        <p:spPr>
          <a:xfrm>
            <a:off x="6492240" y="278892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4B4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torch.compile</a:t>
            </a:r>
            <a:endParaRPr/>
          </a:p>
        </p:txBody>
      </p:sp>
      <p:sp>
        <p:nvSpPr>
          <p:cNvPr id="437" name="Google Shape;437;p26"/>
          <p:cNvSpPr txBox="1"/>
          <p:nvPr/>
        </p:nvSpPr>
        <p:spPr>
          <a:xfrm>
            <a:off x="6492240" y="3474720"/>
            <a:ext cx="224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Compile sweeps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PyTorch Profiler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Phase tags</a:t>
            </a:r>
            <a:endParaRPr/>
          </a:p>
        </p:txBody>
      </p:sp>
      <p:sp>
        <p:nvSpPr>
          <p:cNvPr id="438" name="Google Shape;438;p26"/>
          <p:cNvSpPr/>
          <p:nvPr/>
        </p:nvSpPr>
        <p:spPr>
          <a:xfrm>
            <a:off x="9144000" y="1554480"/>
            <a:ext cx="2788920" cy="3931920"/>
          </a:xfrm>
          <a:prstGeom prst="roundRect">
            <a:avLst>
              <a:gd fmla="val 16667" name="adj"/>
            </a:avLst>
          </a:prstGeom>
          <a:solidFill>
            <a:srgbClr val="1E2E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6"/>
          <p:cNvSpPr/>
          <p:nvPr/>
        </p:nvSpPr>
        <p:spPr>
          <a:xfrm>
            <a:off x="9144000" y="1554480"/>
            <a:ext cx="2788920" cy="73152"/>
          </a:xfrm>
          <a:prstGeom prst="rect">
            <a:avLst/>
          </a:prstGeom>
          <a:solidFill>
            <a:srgbClr val="4D9DE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6"/>
          <p:cNvSpPr txBox="1"/>
          <p:nvPr/>
        </p:nvSpPr>
        <p:spPr>
          <a:xfrm>
            <a:off x="9418320" y="178308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Alex</a:t>
            </a:r>
            <a:endParaRPr/>
          </a:p>
        </p:txBody>
      </p:sp>
      <p:sp>
        <p:nvSpPr>
          <p:cNvPr id="441" name="Google Shape;441;p26"/>
          <p:cNvSpPr txBox="1"/>
          <p:nvPr/>
        </p:nvSpPr>
        <p:spPr>
          <a:xfrm>
            <a:off x="9418320" y="242316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D9DE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Workstream D</a:t>
            </a:r>
            <a:endParaRPr/>
          </a:p>
        </p:txBody>
      </p:sp>
      <p:sp>
        <p:nvSpPr>
          <p:cNvPr id="442" name="Google Shape;442;p26"/>
          <p:cNvSpPr txBox="1"/>
          <p:nvPr/>
        </p:nvSpPr>
        <p:spPr>
          <a:xfrm>
            <a:off x="9418320" y="278892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4B4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Evaluation</a:t>
            </a:r>
            <a:endParaRPr/>
          </a:p>
        </p:txBody>
      </p:sp>
      <p:sp>
        <p:nvSpPr>
          <p:cNvPr id="443" name="Google Shape;443;p26"/>
          <p:cNvSpPr txBox="1"/>
          <p:nvPr/>
        </p:nvSpPr>
        <p:spPr>
          <a:xfrm>
            <a:off x="9418320" y="3474720"/>
            <a:ext cx="224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Run harness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Workload battery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  Accuracy CLI</a:t>
            </a:r>
            <a:endParaRPr/>
          </a:p>
        </p:txBody>
      </p:sp>
      <p:sp>
        <p:nvSpPr>
          <p:cNvPr id="444" name="Google Shape;444;p26"/>
          <p:cNvSpPr txBox="1"/>
          <p:nvPr/>
        </p:nvSpPr>
        <p:spPr>
          <a:xfrm>
            <a:off x="457200" y="5989315"/>
            <a:ext cx="5486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Code:  github.c</a:t>
            </a:r>
            <a:r>
              <a:rPr b="1" i="0" lang="en-US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om/al4744/MoM</a:t>
            </a:r>
            <a:endParaRPr/>
          </a:p>
        </p:txBody>
      </p:sp>
      <p:sp>
        <p:nvSpPr>
          <p:cNvPr id="445" name="Google Shape;445;p26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MoM · HPML Spring 2026  ·  github.com/al4744/MoM</a:t>
            </a:r>
            <a:endParaRPr/>
          </a:p>
        </p:txBody>
      </p:sp>
      <p:sp>
        <p:nvSpPr>
          <p:cNvPr id="446" name="Google Shape;446;p26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13 / 13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